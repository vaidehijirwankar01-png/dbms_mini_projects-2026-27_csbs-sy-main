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90" r:id="rId20"/>
    <p:sldId id="287" r:id="rId10"/>
    <p:sldId id="289" r:id="rId11"/>
    <p:sldId id="288" r:id="rId12"/>
    <p:sldId id="28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 DAILY EXPENSE TRACKER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3125576"/>
            <a:ext cx="10332720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Aayush Kumar - [RBT25CB045],  Ritesh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Buchade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– [RBT25CB049]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Date: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13-10-2026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Database Management System 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Bachhav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00200"/>
            <a:ext cx="6949440" cy="4480560"/>
          </a:xfrm>
        </p:spPr>
        <p:txBody>
          <a:bodyPr wrap="square">
            <a:normAutofit/>
          </a:bodyPr>
          <a:lstStyle/>
          <a:p>
            <a:pPr marL="285750" indent="-285750" algn="l">
              <a:defRPr sz="2100">
                <a:solidFill>
                  <a:srgbClr val="232D37"/>
                </a:solidFill>
                <a:latin typeface="Aptos"/>
              </a:defRPr>
            </a:pPr>
            <a:r>
              <a:rPr sz="1900" b="1" i="0">
                <a:solidFill>
                  <a:srgbClr val="232D37"/>
                </a:solidFill>
                <a:latin typeface="Times New Roman"/>
              </a:rPr>
              <a:t>Definition: </a:t>
            </a:r>
            <a:r>
              <a:rPr sz="1900" b="0" i="0">
                <a:solidFill>
                  <a:srgbClr val="232D37"/>
                </a:solidFill>
                <a:latin typeface="Times New Roman"/>
              </a:rPr>
              <a:t>Daily Expense Tracker is a web application to record, organize and review daily spending.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232D37"/>
                </a:solidFill>
                <a:latin typeface="Times New Roman"/>
              </a:rPr>
              <a:t>Background: </a:t>
            </a:r>
            <a:r>
              <a:rPr sz="1900" b="0" i="0">
                <a:solidFill>
                  <a:srgbClr val="232D37"/>
                </a:solidFill>
                <a:latin typeface="Times New Roman"/>
              </a:rPr>
              <a:t>Expenses are usually kept in notebooks or spreadsheets, so category totals and budget checks are slow and error-prone.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232D37"/>
                </a:solidFill>
                <a:latin typeface="Times New Roman"/>
              </a:rPr>
              <a:t>Approach: </a:t>
            </a:r>
            <a:r>
              <a:rPr sz="1900" b="0" i="0">
                <a:solidFill>
                  <a:srgbClr val="232D37"/>
                </a:solidFill>
                <a:latin typeface="Times New Roman"/>
              </a:rPr>
              <a:t>A DBMS mini project built with Flask (Python) and MySQL 8 as a two-tier web application.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1" i="0">
                <a:solidFill>
                  <a:srgbClr val="232D37"/>
                </a:solidFill>
                <a:latin typeface="Times New Roman"/>
              </a:rPr>
              <a:t>Motivation: </a:t>
            </a:r>
            <a:r>
              <a:rPr sz="1900" b="0" i="0">
                <a:solidFill>
                  <a:srgbClr val="232D37"/>
                </a:solidFill>
                <a:latin typeface="Times New Roman"/>
              </a:rPr>
              <a:t>Apply schema design, integrity constraints and SQL queries to an everyday problem.</a:t>
            </a:r>
          </a:p>
        </p:txBody>
      </p:sp>
      <p:sp>
        <p:nvSpPr>
          <p:cNvPr id="4" name="Stat database tables"/>
          <p:cNvSpPr/>
          <p:nvPr/>
        </p:nvSpPr>
        <p:spPr>
          <a:xfrm>
            <a:off x="7955279" y="1691640"/>
            <a:ext cx="3630168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0" y="1737360"/>
            <a:ext cx="3447288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4000" b="1" i="0">
                <a:solidFill>
                  <a:srgbClr val="8C2F39"/>
                </a:solidFill>
                <a:latin typeface="Times New Roman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441448"/>
            <a:ext cx="3447288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database tables</a:t>
            </a:r>
          </a:p>
        </p:txBody>
      </p:sp>
      <p:sp>
        <p:nvSpPr>
          <p:cNvPr id="7" name="Stat implemented features"/>
          <p:cNvSpPr/>
          <p:nvPr/>
        </p:nvSpPr>
        <p:spPr>
          <a:xfrm>
            <a:off x="7955279" y="3154680"/>
            <a:ext cx="3630168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0" y="3200400"/>
            <a:ext cx="3447288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4000" b="1" i="0">
                <a:solidFill>
                  <a:srgbClr val="8C2F39"/>
                </a:solidFill>
                <a:latin typeface="Times New Roman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904488"/>
            <a:ext cx="3447288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implemented features</a:t>
            </a:r>
          </a:p>
        </p:txBody>
      </p:sp>
      <p:sp>
        <p:nvSpPr>
          <p:cNvPr id="10" name="Stat Flask web app + MySQL"/>
          <p:cNvSpPr/>
          <p:nvPr/>
        </p:nvSpPr>
        <p:spPr>
          <a:xfrm>
            <a:off x="7955279" y="4617720"/>
            <a:ext cx="3630168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4663440"/>
            <a:ext cx="3447288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4000" b="1" i="0">
                <a:solidFill>
                  <a:srgbClr val="8C2F39"/>
                </a:solidFill>
                <a:latin typeface="Times New Roman"/>
              </a:rPr>
              <a:t>2-Tier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367528"/>
            <a:ext cx="3447288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Flask web app + MySQL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Problem Definition &amp; Objectives</a:t>
            </a:r>
          </a:p>
        </p:txBody>
      </p:sp>
      <p:sp>
        <p:nvSpPr>
          <p:cNvPr id="3" name="Card Problem Definition"/>
          <p:cNvSpPr/>
          <p:nvPr/>
        </p:nvSpPr>
        <p:spPr>
          <a:xfrm>
            <a:off x="612648" y="1600200"/>
            <a:ext cx="534924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dge 1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Card title"/>
          <p:cNvSpPr txBox="1"/>
          <p:nvPr/>
        </p:nvSpPr>
        <p:spPr>
          <a:xfrm>
            <a:off x="1389888" y="1783080"/>
            <a:ext cx="43891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Problem Definition</a:t>
            </a:r>
          </a:p>
        </p:txBody>
      </p:sp>
      <p:sp>
        <p:nvSpPr>
          <p:cNvPr id="6" name="Card body"/>
          <p:cNvSpPr txBox="1"/>
          <p:nvPr/>
        </p:nvSpPr>
        <p:spPr>
          <a:xfrm>
            <a:off x="841248" y="2468880"/>
            <a:ext cx="489204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Manual tracking makes it hard to see how much is spent in each category.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Comparing monthly spending with a budget needs separate calculations.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Records can be lost, and there is no simple backup.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A simple, database-backed system is needed to store and report expenses.</a:t>
            </a:r>
          </a:p>
        </p:txBody>
      </p:sp>
      <p:sp>
        <p:nvSpPr>
          <p:cNvPr id="7" name="Card Objectives"/>
          <p:cNvSpPr/>
          <p:nvPr/>
        </p:nvSpPr>
        <p:spPr>
          <a:xfrm>
            <a:off x="6236208" y="1600200"/>
            <a:ext cx="534924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dge 2"/>
          <p:cNvSpPr/>
          <p:nvPr/>
        </p:nvSpPr>
        <p:spPr>
          <a:xfrm>
            <a:off x="646480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Card title"/>
          <p:cNvSpPr txBox="1"/>
          <p:nvPr/>
        </p:nvSpPr>
        <p:spPr>
          <a:xfrm>
            <a:off x="7013448" y="1783080"/>
            <a:ext cx="43891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Objectives</a:t>
            </a:r>
          </a:p>
        </p:txBody>
      </p:sp>
      <p:sp>
        <p:nvSpPr>
          <p:cNvPr id="10" name="Card body"/>
          <p:cNvSpPr txBox="1"/>
          <p:nvPr/>
        </p:nvSpPr>
        <p:spPr>
          <a:xfrm>
            <a:off x="6464808" y="2468880"/>
            <a:ext cx="489204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Record daily expenses (add, edit, delete).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Maintain expense categories.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Manage monthly category-wise budgets.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Compare spending with budget limits.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Store backups in a separate table.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Literature Survey</a:t>
            </a:r>
          </a:p>
        </p:txBody>
      </p:sp>
      <p:sp>
        <p:nvSpPr>
          <p:cNvPr id="3" name="Card Existing Systems"/>
          <p:cNvSpPr/>
          <p:nvPr/>
        </p:nvSpPr>
        <p:spPr>
          <a:xfrm>
            <a:off x="612648" y="1600200"/>
            <a:ext cx="347472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dge 1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Card title"/>
          <p:cNvSpPr txBox="1"/>
          <p:nvPr/>
        </p:nvSpPr>
        <p:spPr>
          <a:xfrm>
            <a:off x="1389888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Existing Systems</a:t>
            </a:r>
          </a:p>
        </p:txBody>
      </p:sp>
      <p:sp>
        <p:nvSpPr>
          <p:cNvPr id="6" name="Card body"/>
          <p:cNvSpPr txBox="1"/>
          <p:nvPr/>
        </p:nvSpPr>
        <p:spPr>
          <a:xfrm>
            <a:off x="841248" y="2468880"/>
            <a:ext cx="301752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Notebooks and paper records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Spreadsheets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General finance applications</a:t>
            </a:r>
          </a:p>
        </p:txBody>
      </p:sp>
      <p:sp>
        <p:nvSpPr>
          <p:cNvPr id="7" name="Card Limitations"/>
          <p:cNvSpPr/>
          <p:nvPr/>
        </p:nvSpPr>
        <p:spPr>
          <a:xfrm>
            <a:off x="4361688" y="1600200"/>
            <a:ext cx="347472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dge 2"/>
          <p:cNvSpPr/>
          <p:nvPr/>
        </p:nvSpPr>
        <p:spPr>
          <a:xfrm>
            <a:off x="459028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Card title"/>
          <p:cNvSpPr txBox="1"/>
          <p:nvPr/>
        </p:nvSpPr>
        <p:spPr>
          <a:xfrm>
            <a:off x="5138927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Limitations</a:t>
            </a:r>
          </a:p>
        </p:txBody>
      </p:sp>
      <p:sp>
        <p:nvSpPr>
          <p:cNvPr id="10" name="Card body"/>
          <p:cNvSpPr txBox="1"/>
          <p:nvPr/>
        </p:nvSpPr>
        <p:spPr>
          <a:xfrm>
            <a:off x="4590288" y="2468880"/>
            <a:ext cx="301752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Manual entry causes mistakes.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No integrity rules on the data.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Category totals need manual work.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Records are easy to lose.</a:t>
            </a:r>
          </a:p>
        </p:txBody>
      </p:sp>
      <p:sp>
        <p:nvSpPr>
          <p:cNvPr id="11" name="Card Gaps Identified"/>
          <p:cNvSpPr/>
          <p:nvPr/>
        </p:nvSpPr>
        <p:spPr>
          <a:xfrm>
            <a:off x="8110727" y="1600200"/>
            <a:ext cx="347472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dge 3"/>
          <p:cNvSpPr/>
          <p:nvPr/>
        </p:nvSpPr>
        <p:spPr>
          <a:xfrm>
            <a:off x="8339327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Card title"/>
          <p:cNvSpPr txBox="1"/>
          <p:nvPr/>
        </p:nvSpPr>
        <p:spPr>
          <a:xfrm>
            <a:off x="8887967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Gaps Identified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8339327" y="2468880"/>
            <a:ext cx="301752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No category-wise reports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No backup handling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No simple budget comparison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Feasibility Study</a:t>
            </a:r>
          </a:p>
        </p:txBody>
      </p:sp>
      <p:sp>
        <p:nvSpPr>
          <p:cNvPr id="3" name="Card Technical"/>
          <p:cNvSpPr/>
          <p:nvPr/>
        </p:nvSpPr>
        <p:spPr>
          <a:xfrm>
            <a:off x="612648" y="1600200"/>
            <a:ext cx="347472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dge 1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Card title"/>
          <p:cNvSpPr txBox="1"/>
          <p:nvPr/>
        </p:nvSpPr>
        <p:spPr>
          <a:xfrm>
            <a:off x="1389888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Technical</a:t>
            </a:r>
          </a:p>
        </p:txBody>
      </p:sp>
      <p:sp>
        <p:nvSpPr>
          <p:cNvPr id="6" name="Card body"/>
          <p:cNvSpPr txBox="1"/>
          <p:nvPr/>
        </p:nvSpPr>
        <p:spPr>
          <a:xfrm>
            <a:off x="841248" y="2468880"/>
            <a:ext cx="301752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Flask, Python and MySQL 8 are mature and well documented.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mysql-connector-python links Flask to MySQL.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Runs on a normal PC with a web browser.</a:t>
            </a:r>
          </a:p>
        </p:txBody>
      </p:sp>
      <p:sp>
        <p:nvSpPr>
          <p:cNvPr id="7" name="Card Financial / Business"/>
          <p:cNvSpPr/>
          <p:nvPr/>
        </p:nvSpPr>
        <p:spPr>
          <a:xfrm>
            <a:off x="4361688" y="1600200"/>
            <a:ext cx="347472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dge 2"/>
          <p:cNvSpPr/>
          <p:nvPr/>
        </p:nvSpPr>
        <p:spPr>
          <a:xfrm>
            <a:off x="459028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Card title"/>
          <p:cNvSpPr txBox="1"/>
          <p:nvPr/>
        </p:nvSpPr>
        <p:spPr>
          <a:xfrm>
            <a:off x="5138927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Financial / Business</a:t>
            </a:r>
          </a:p>
        </p:txBody>
      </p:sp>
      <p:sp>
        <p:nvSpPr>
          <p:cNvPr id="10" name="Card body"/>
          <p:cNvSpPr txBox="1"/>
          <p:nvPr/>
        </p:nvSpPr>
        <p:spPr>
          <a:xfrm>
            <a:off x="4590288" y="2468880"/>
            <a:ext cx="301752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Every tool used is free or open source.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No licence or hosting cost, as it runs locally.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Tools: MySQL Workbench, VS Code, browser.</a:t>
            </a:r>
          </a:p>
        </p:txBody>
      </p:sp>
      <p:sp>
        <p:nvSpPr>
          <p:cNvPr id="11" name="Card Operational"/>
          <p:cNvSpPr/>
          <p:nvPr/>
        </p:nvSpPr>
        <p:spPr>
          <a:xfrm>
            <a:off x="8110727" y="1600200"/>
            <a:ext cx="3474720" cy="434340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dge 3"/>
          <p:cNvSpPr/>
          <p:nvPr/>
        </p:nvSpPr>
        <p:spPr>
          <a:xfrm>
            <a:off x="8339327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Card title"/>
          <p:cNvSpPr txBox="1"/>
          <p:nvPr/>
        </p:nvSpPr>
        <p:spPr>
          <a:xfrm>
            <a:off x="8887967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Operational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8339327" y="2468880"/>
            <a:ext cx="3017520" cy="3337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Simple HTML forms; no training needed.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Add, edit, delete and backup are one-click actions.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700" b="0" i="0">
                <a:solidFill>
                  <a:srgbClr val="232D37"/>
                </a:solidFill>
                <a:latin typeface="Times New Roman"/>
              </a:rPr>
              <a:t>Easy to explain and maintain.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System Design &amp; Architecture</a:t>
            </a:r>
          </a:p>
        </p:txBody>
      </p:sp>
      <p:sp>
        <p:nvSpPr>
          <p:cNvPr id="3" name="Node User"/>
          <p:cNvSpPr/>
          <p:nvPr/>
        </p:nvSpPr>
        <p:spPr>
          <a:xfrm>
            <a:off x="612648" y="1554480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1600200"/>
            <a:ext cx="274320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User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Web browser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(HTML forms)</a:t>
            </a:r>
          </a:p>
        </p:txBody>
      </p:sp>
      <p:sp>
        <p:nvSpPr>
          <p:cNvPr id="5" name="Arrow"/>
          <p:cNvSpPr/>
          <p:nvPr/>
        </p:nvSpPr>
        <p:spPr>
          <a:xfrm>
            <a:off x="3630168" y="1984248"/>
            <a:ext cx="822960" cy="420624"/>
          </a:xfrm>
          <a:prstGeom prst="left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Node Flask Web Application"/>
          <p:cNvSpPr/>
          <p:nvPr/>
        </p:nvSpPr>
        <p:spPr>
          <a:xfrm>
            <a:off x="4636008" y="1554480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27448" y="1600200"/>
            <a:ext cx="274320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Flask Web Application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Routes + Jinja2 templates</a:t>
            </a:r>
          </a:p>
        </p:txBody>
      </p:sp>
      <p:sp>
        <p:nvSpPr>
          <p:cNvPr id="8" name="Arrow"/>
          <p:cNvSpPr/>
          <p:nvPr/>
        </p:nvSpPr>
        <p:spPr>
          <a:xfrm>
            <a:off x="7653528" y="1984248"/>
            <a:ext cx="822960" cy="420624"/>
          </a:xfrm>
          <a:prstGeom prst="left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ode MySQL Database"/>
          <p:cNvSpPr/>
          <p:nvPr/>
        </p:nvSpPr>
        <p:spPr>
          <a:xfrm>
            <a:off x="8659368" y="1554480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1600200"/>
            <a:ext cx="274320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2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Times New Roman"/>
              </a:rPr>
              <a:t>MySQL Database</a:t>
            </a:r>
          </a:p>
          <a:p>
            <a:pPr marL="0" indent="0" algn="ctr">
              <a:spcAft>
                <a:spcPts val="20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expense_tracker</a:t>
            </a:r>
          </a:p>
        </p:txBody>
      </p:sp>
      <p:sp>
        <p:nvSpPr>
          <p:cNvPr id="11" name="Module Expense Management"/>
          <p:cNvSpPr/>
          <p:nvPr/>
        </p:nvSpPr>
        <p:spPr>
          <a:xfrm>
            <a:off x="612648" y="320040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3310128"/>
            <a:ext cx="2331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8C2F39"/>
                </a:solidFill>
                <a:latin typeface="Times New Roman"/>
              </a:rPr>
              <a:t>Expense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886200"/>
            <a:ext cx="233172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Add, edit, delete expenses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Delete asks confirmation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List shows date, category, amount, note</a:t>
            </a:r>
          </a:p>
        </p:txBody>
      </p:sp>
      <p:sp>
        <p:nvSpPr>
          <p:cNvPr id="14" name="Module Budget Management"/>
          <p:cNvSpPr/>
          <p:nvPr/>
        </p:nvSpPr>
        <p:spPr>
          <a:xfrm>
            <a:off x="3401568" y="320040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8727" y="3310128"/>
            <a:ext cx="2331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8C2F39"/>
                </a:solidFill>
                <a:latin typeface="Times New Roman"/>
              </a:rPr>
              <a:t>Budget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7" y="3886200"/>
            <a:ext cx="233172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Monthly category budgets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Report: limit, spent, remaining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Status for each category</a:t>
            </a:r>
          </a:p>
        </p:txBody>
      </p:sp>
      <p:sp>
        <p:nvSpPr>
          <p:cNvPr id="17" name="Module Backup"/>
          <p:cNvSpPr/>
          <p:nvPr/>
        </p:nvSpPr>
        <p:spPr>
          <a:xfrm>
            <a:off x="6190488" y="320040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310128"/>
            <a:ext cx="2331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8C2F39"/>
                </a:solidFill>
                <a:latin typeface="Times New Roman"/>
              </a:rPr>
              <a:t>Backup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3886200"/>
            <a:ext cx="233172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Copy expenses to expenses_backup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Each row has backed_up_at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View all backup records</a:t>
            </a:r>
          </a:p>
        </p:txBody>
      </p:sp>
      <p:sp>
        <p:nvSpPr>
          <p:cNvPr id="20" name="Module Database"/>
          <p:cNvSpPr/>
          <p:nvPr/>
        </p:nvSpPr>
        <p:spPr>
          <a:xfrm>
            <a:off x="8979407" y="3200400"/>
            <a:ext cx="2606040" cy="2834640"/>
          </a:xfrm>
          <a:prstGeom prst="roundRect">
            <a:avLst>
              <a:gd name="adj" fmla="val 5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6567" y="3310128"/>
            <a:ext cx="233172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800" b="1" i="0">
                <a:solidFill>
                  <a:srgbClr val="8C2F39"/>
                </a:solidFill>
                <a:latin typeface="Times New Roman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7" y="3886200"/>
            <a:ext cx="233172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MySQL 8: expense_tracker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4 tables with keys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Foreign key and unique constraints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Database Design &amp; ER Diagram</a:t>
            </a:r>
          </a:p>
        </p:txBody>
      </p:sp>
      <p:sp>
        <p:nvSpPr>
          <p:cNvPr id="3" name="Entity budgets"/>
          <p:cNvSpPr/>
          <p:nvPr/>
        </p:nvSpPr>
        <p:spPr>
          <a:xfrm>
            <a:off x="612648" y="1600200"/>
            <a:ext cx="228600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Entity head budgets"/>
          <p:cNvSpPr/>
          <p:nvPr/>
        </p:nvSpPr>
        <p:spPr>
          <a:xfrm>
            <a:off x="612648" y="1600200"/>
            <a:ext cx="2286000" cy="45720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budgets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2130552"/>
            <a:ext cx="21031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budget_id (PK)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category_id (FK)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month_year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limit_amount</a:t>
            </a:r>
          </a:p>
        </p:txBody>
      </p:sp>
      <p:sp>
        <p:nvSpPr>
          <p:cNvPr id="6" name="Entity categories"/>
          <p:cNvSpPr/>
          <p:nvPr/>
        </p:nvSpPr>
        <p:spPr>
          <a:xfrm>
            <a:off x="3511296" y="1600200"/>
            <a:ext cx="228600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ntity head categories"/>
          <p:cNvSpPr/>
          <p:nvPr/>
        </p:nvSpPr>
        <p:spPr>
          <a:xfrm>
            <a:off x="3511296" y="1600200"/>
            <a:ext cx="2286000" cy="45720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2736" y="2130552"/>
            <a:ext cx="21031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category_id (PK)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name</a:t>
            </a:r>
          </a:p>
        </p:txBody>
      </p:sp>
      <p:sp>
        <p:nvSpPr>
          <p:cNvPr id="9" name="Entity expenses"/>
          <p:cNvSpPr/>
          <p:nvPr/>
        </p:nvSpPr>
        <p:spPr>
          <a:xfrm>
            <a:off x="6409944" y="1600200"/>
            <a:ext cx="228600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Entity head expenses"/>
          <p:cNvSpPr/>
          <p:nvPr/>
        </p:nvSpPr>
        <p:spPr>
          <a:xfrm>
            <a:off x="6409944" y="1600200"/>
            <a:ext cx="2286000" cy="45720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expenses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3" y="2130552"/>
            <a:ext cx="21031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expense_id (PK)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amount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category_id (FK)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expense_date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note</a:t>
            </a:r>
          </a:p>
        </p:txBody>
      </p:sp>
      <p:sp>
        <p:nvSpPr>
          <p:cNvPr id="12" name="Entity expenses_backup"/>
          <p:cNvSpPr/>
          <p:nvPr/>
        </p:nvSpPr>
        <p:spPr>
          <a:xfrm>
            <a:off x="9308592" y="1600200"/>
            <a:ext cx="2286000" cy="2514600"/>
          </a:xfrm>
          <a:prstGeom prst="rect">
            <a:avLst/>
          </a:prstGeom>
          <a:solidFill>
            <a:srgbClr val="FFFFFF"/>
          </a:solidFill>
          <a:ln w="1587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Entity head expenses_backup"/>
          <p:cNvSpPr/>
          <p:nvPr/>
        </p:nvSpPr>
        <p:spPr>
          <a:xfrm>
            <a:off x="9308592" y="1600200"/>
            <a:ext cx="2286000" cy="457200"/>
          </a:xfrm>
          <a:prstGeom prst="rect">
            <a:avLst/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Times New Roman"/>
              </a:rPr>
              <a:t>expenses_backup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2130552"/>
            <a:ext cx="2103120" cy="1920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expense_id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amount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category_id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expense_date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note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sz="1400" b="0" i="0">
                <a:solidFill>
                  <a:srgbClr val="232D37"/>
                </a:solidFill>
                <a:latin typeface="Times New Roman"/>
              </a:rPr>
              <a:t>backed_up_at</a:t>
            </a:r>
          </a:p>
        </p:txBody>
      </p:sp>
      <p:sp>
        <p:nvSpPr>
          <p:cNvPr id="15" name="Link"/>
          <p:cNvSpPr/>
          <p:nvPr/>
        </p:nvSpPr>
        <p:spPr>
          <a:xfrm>
            <a:off x="2926079" y="2834640"/>
            <a:ext cx="557784" cy="36576"/>
          </a:xfrm>
          <a:prstGeom prst="rect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98648" y="2450592"/>
            <a:ext cx="61264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1" i="0">
                <a:solidFill>
                  <a:srgbClr val="8C2F39"/>
                </a:solidFill>
                <a:latin typeface="Times New Roman"/>
              </a:rPr>
              <a:t>N:1</a:t>
            </a:r>
          </a:p>
        </p:txBody>
      </p:sp>
      <p:sp>
        <p:nvSpPr>
          <p:cNvPr id="17" name="Link"/>
          <p:cNvSpPr/>
          <p:nvPr/>
        </p:nvSpPr>
        <p:spPr>
          <a:xfrm>
            <a:off x="5824728" y="2834640"/>
            <a:ext cx="557784" cy="36576"/>
          </a:xfrm>
          <a:prstGeom prst="rect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97296" y="2450592"/>
            <a:ext cx="61264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1" i="0">
                <a:solidFill>
                  <a:srgbClr val="8C2F39"/>
                </a:solidFill>
                <a:latin typeface="Times New Roman"/>
              </a:rPr>
              <a:t>1:N</a:t>
            </a:r>
          </a:p>
        </p:txBody>
      </p:sp>
      <p:sp>
        <p:nvSpPr>
          <p:cNvPr id="19" name="Link"/>
          <p:cNvSpPr/>
          <p:nvPr/>
        </p:nvSpPr>
        <p:spPr>
          <a:xfrm>
            <a:off x="8723376" y="2834640"/>
            <a:ext cx="557784" cy="36576"/>
          </a:xfrm>
          <a:prstGeom prst="rect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5944" y="2450592"/>
            <a:ext cx="61264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400" b="1" i="0">
                <a:solidFill>
                  <a:srgbClr val="8C2F39"/>
                </a:solidFill>
                <a:latin typeface="Times New Roman"/>
              </a:rPr>
              <a:t>copy</a:t>
            </a:r>
          </a:p>
        </p:txBody>
      </p:sp>
      <p:sp>
        <p:nvSpPr>
          <p:cNvPr id="21" name="Note"/>
          <p:cNvSpPr/>
          <p:nvPr/>
        </p:nvSpPr>
        <p:spPr>
          <a:xfrm>
            <a:off x="612648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4572000"/>
            <a:ext cx="237744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32D37"/>
                </a:solidFill>
                <a:latin typeface="Times New Roman"/>
              </a:rPr>
              <a:t>Primary keys: </a:t>
            </a:r>
            <a:r>
              <a:rPr sz="1500" b="0" i="0">
                <a:solidFill>
                  <a:srgbClr val="232D37"/>
                </a:solidFill>
                <a:latin typeface="Times New Roman"/>
              </a:rPr>
              <a:t>identify every row in the main tables.</a:t>
            </a:r>
          </a:p>
        </p:txBody>
      </p:sp>
      <p:sp>
        <p:nvSpPr>
          <p:cNvPr id="23" name="Note"/>
          <p:cNvSpPr/>
          <p:nvPr/>
        </p:nvSpPr>
        <p:spPr>
          <a:xfrm>
            <a:off x="3401568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11296" y="4572000"/>
            <a:ext cx="237744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32D37"/>
                </a:solidFill>
                <a:latin typeface="Times New Roman"/>
              </a:rPr>
              <a:t>Foreign keys: </a:t>
            </a:r>
            <a:r>
              <a:rPr sz="1500" b="0" i="0">
                <a:solidFill>
                  <a:srgbClr val="232D37"/>
                </a:solidFill>
                <a:latin typeface="Times New Roman"/>
              </a:rPr>
              <a:t>link expenses and budgets to categories.</a:t>
            </a:r>
          </a:p>
        </p:txBody>
      </p:sp>
      <p:sp>
        <p:nvSpPr>
          <p:cNvPr id="25" name="Note"/>
          <p:cNvSpPr/>
          <p:nvPr/>
        </p:nvSpPr>
        <p:spPr>
          <a:xfrm>
            <a:off x="6190488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00216" y="4572000"/>
            <a:ext cx="237744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32D37"/>
                </a:solidFill>
                <a:latin typeface="Times New Roman"/>
              </a:rPr>
              <a:t>Unique constraints: </a:t>
            </a:r>
            <a:r>
              <a:rPr sz="1500" b="0" i="0">
                <a:solidFill>
                  <a:srgbClr val="232D37"/>
                </a:solidFill>
                <a:latin typeface="Times New Roman"/>
              </a:rPr>
              <a:t>avoid duplicate entries.</a:t>
            </a:r>
          </a:p>
        </p:txBody>
      </p:sp>
      <p:sp>
        <p:nvSpPr>
          <p:cNvPr id="27" name="Note"/>
          <p:cNvSpPr/>
          <p:nvPr/>
        </p:nvSpPr>
        <p:spPr>
          <a:xfrm>
            <a:off x="8979407" y="4526280"/>
            <a:ext cx="2606040" cy="1280160"/>
          </a:xfrm>
          <a:prstGeom prst="roundRect">
            <a:avLst>
              <a:gd name="adj" fmla="val 8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9135" y="4572000"/>
            <a:ext cx="2377440" cy="11887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500" b="1" i="0">
                <a:solidFill>
                  <a:srgbClr val="232D37"/>
                </a:solidFill>
                <a:latin typeface="Times New Roman"/>
              </a:rPr>
              <a:t>Backup table: </a:t>
            </a:r>
            <a:r>
              <a:rPr sz="1500" b="0" i="0">
                <a:solidFill>
                  <a:srgbClr val="232D37"/>
                </a:solidFill>
                <a:latin typeface="Times New Roman"/>
              </a:rPr>
              <a:t>adds backed_up_at to a copy of expense data.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SQL Implementation – SQL Operations</a:t>
            </a:r>
          </a:p>
        </p:txBody>
      </p:sp>
      <p:sp>
        <p:nvSpPr>
          <p:cNvPr id="3" name="Ops panel"/>
          <p:cNvSpPr/>
          <p:nvPr/>
        </p:nvSpPr>
        <p:spPr>
          <a:xfrm>
            <a:off x="612648" y="1554480"/>
            <a:ext cx="3749039" cy="402336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33832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8C2F39"/>
                </a:solidFill>
                <a:latin typeface="Times New Roman"/>
              </a:rPr>
              <a:t>SQL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3383280" cy="3749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CREATE TABLE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INSERT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SELECT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UPDATE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DELETE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JOIN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GROUP BY and aggregates (SUM)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Foreign and unique constraints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Backup (INSERT … SELECT)</a:t>
            </a:r>
          </a:p>
        </p:txBody>
      </p:sp>
      <p:sp>
        <p:nvSpPr>
          <p:cNvPr id="6" name="Code panel"/>
          <p:cNvSpPr/>
          <p:nvPr/>
        </p:nvSpPr>
        <p:spPr>
          <a:xfrm>
            <a:off x="4572000" y="1554480"/>
            <a:ext cx="7013448" cy="2194560"/>
          </a:xfrm>
          <a:prstGeom prst="roundRect">
            <a:avLst>
              <a:gd name="adj" fmla="val 3000"/>
            </a:avLst>
          </a:prstGeom>
          <a:solidFill>
            <a:srgbClr val="262B3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6675120" cy="20116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CREATE TABLE expenses (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expense_id INT AUTO_INCREMENT PRIMARY KEY,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amount DECIMAL(10,2) NOT NULL,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category_id INT NOT NULL,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expense_date DATE NOT NULL,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note VARCHAR(255),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FOREIGN KEY (category_id)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  REFERENCES categories(category_id)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);</a:t>
            </a:r>
          </a:p>
        </p:txBody>
      </p:sp>
      <p:sp>
        <p:nvSpPr>
          <p:cNvPr id="8" name="Code panel"/>
          <p:cNvSpPr/>
          <p:nvPr/>
        </p:nvSpPr>
        <p:spPr>
          <a:xfrm>
            <a:off x="4572000" y="3931920"/>
            <a:ext cx="7013448" cy="1645920"/>
          </a:xfrm>
          <a:prstGeom prst="roundRect">
            <a:avLst>
              <a:gd name="adj" fmla="val 3000"/>
            </a:avLst>
          </a:prstGeom>
          <a:solidFill>
            <a:srgbClr val="262B3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0" y="4023359"/>
            <a:ext cx="6675120" cy="1463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INSERT INTO expenses_backup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(expense_id, amount, category_id,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 expense_date, note)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SELECT expense_id, amount, category_id,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   expense_date, note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sz="1300" b="0" i="0">
                <a:solidFill>
                  <a:srgbClr val="EEEEEE"/>
                </a:solidFill>
                <a:latin typeface="Courier New"/>
              </a:rPr>
              <a:t>FROM expenses;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SQL Implementation – Workflow &amp; Testing</a:t>
            </a:r>
          </a:p>
        </p:txBody>
      </p:sp>
      <p:sp>
        <p:nvSpPr>
          <p:cNvPr id="3" name="Step Start"/>
          <p:cNvSpPr/>
          <p:nvPr/>
        </p:nvSpPr>
        <p:spPr>
          <a:xfrm>
            <a:off x="612648" y="1554480"/>
            <a:ext cx="1554480" cy="1143000"/>
          </a:xfrm>
          <a:prstGeom prst="roundRect">
            <a:avLst>
              <a:gd name="adj" fmla="val 10000"/>
            </a:avLst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463040" cy="11064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Start</a:t>
            </a:r>
          </a:p>
        </p:txBody>
      </p:sp>
      <p:sp>
        <p:nvSpPr>
          <p:cNvPr id="5" name="Arrow"/>
          <p:cNvSpPr/>
          <p:nvPr/>
        </p:nvSpPr>
        <p:spPr>
          <a:xfrm>
            <a:off x="2194560" y="1993392"/>
            <a:ext cx="274320" cy="274320"/>
          </a:xfrm>
          <a:prstGeom prst="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tep Open Web Application"/>
          <p:cNvSpPr/>
          <p:nvPr/>
        </p:nvSpPr>
        <p:spPr>
          <a:xfrm>
            <a:off x="2496312" y="1554480"/>
            <a:ext cx="1554480" cy="1143000"/>
          </a:xfrm>
          <a:prstGeom prst="roundRect">
            <a:avLst>
              <a:gd name="adj" fmla="val 10000"/>
            </a:avLst>
          </a:prstGeom>
          <a:solidFill>
            <a:srgbClr val="F6EEEF"/>
          </a:solidFill>
          <a:ln w="952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2032" y="1572768"/>
            <a:ext cx="1463040" cy="11064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Open Web Application</a:t>
            </a:r>
          </a:p>
        </p:txBody>
      </p:sp>
      <p:sp>
        <p:nvSpPr>
          <p:cNvPr id="8" name="Arrow"/>
          <p:cNvSpPr/>
          <p:nvPr/>
        </p:nvSpPr>
        <p:spPr>
          <a:xfrm>
            <a:off x="4078224" y="1993392"/>
            <a:ext cx="274320" cy="274320"/>
          </a:xfrm>
          <a:prstGeom prst="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ep Add or Manage Expense"/>
          <p:cNvSpPr/>
          <p:nvPr/>
        </p:nvSpPr>
        <p:spPr>
          <a:xfrm>
            <a:off x="4379976" y="1554480"/>
            <a:ext cx="1554480" cy="1143000"/>
          </a:xfrm>
          <a:prstGeom prst="roundRect">
            <a:avLst>
              <a:gd name="adj" fmla="val 10000"/>
            </a:avLst>
          </a:prstGeom>
          <a:solidFill>
            <a:srgbClr val="F6EEEF"/>
          </a:solidFill>
          <a:ln w="952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1572768"/>
            <a:ext cx="1463040" cy="11064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Add or Manage Expense</a:t>
            </a:r>
          </a:p>
        </p:txBody>
      </p:sp>
      <p:sp>
        <p:nvSpPr>
          <p:cNvPr id="11" name="Arrow"/>
          <p:cNvSpPr/>
          <p:nvPr/>
        </p:nvSpPr>
        <p:spPr>
          <a:xfrm>
            <a:off x="5961888" y="1993392"/>
            <a:ext cx="274320" cy="274320"/>
          </a:xfrm>
          <a:prstGeom prst="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ep Store Data in MySQL"/>
          <p:cNvSpPr/>
          <p:nvPr/>
        </p:nvSpPr>
        <p:spPr>
          <a:xfrm>
            <a:off x="6263640" y="1554480"/>
            <a:ext cx="1554480" cy="1143000"/>
          </a:xfrm>
          <a:prstGeom prst="roundRect">
            <a:avLst>
              <a:gd name="adj" fmla="val 10000"/>
            </a:avLst>
          </a:prstGeom>
          <a:solidFill>
            <a:srgbClr val="F6EEEF"/>
          </a:solidFill>
          <a:ln w="952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572768"/>
            <a:ext cx="1463040" cy="11064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Store Data in MySQL</a:t>
            </a:r>
          </a:p>
        </p:txBody>
      </p:sp>
      <p:sp>
        <p:nvSpPr>
          <p:cNvPr id="14" name="Arrow"/>
          <p:cNvSpPr/>
          <p:nvPr/>
        </p:nvSpPr>
        <p:spPr>
          <a:xfrm>
            <a:off x="7845552" y="1993392"/>
            <a:ext cx="274320" cy="274320"/>
          </a:xfrm>
          <a:prstGeom prst="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ep View Expense and Budget Reports"/>
          <p:cNvSpPr/>
          <p:nvPr/>
        </p:nvSpPr>
        <p:spPr>
          <a:xfrm>
            <a:off x="8147304" y="1554480"/>
            <a:ext cx="1554480" cy="1143000"/>
          </a:xfrm>
          <a:prstGeom prst="roundRect">
            <a:avLst>
              <a:gd name="adj" fmla="val 10000"/>
            </a:avLst>
          </a:prstGeom>
          <a:solidFill>
            <a:srgbClr val="F6EEEF"/>
          </a:solidFill>
          <a:ln w="9525">
            <a:solidFill>
              <a:srgbClr val="8C2F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3024" y="1572768"/>
            <a:ext cx="1463040" cy="11064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0" i="0">
                <a:solidFill>
                  <a:srgbClr val="232D37"/>
                </a:solidFill>
                <a:latin typeface="Times New Roman"/>
              </a:rPr>
              <a:t>View Expense and Budget Reports</a:t>
            </a:r>
          </a:p>
        </p:txBody>
      </p:sp>
      <p:sp>
        <p:nvSpPr>
          <p:cNvPr id="17" name="Arrow"/>
          <p:cNvSpPr/>
          <p:nvPr/>
        </p:nvSpPr>
        <p:spPr>
          <a:xfrm>
            <a:off x="9729216" y="1993392"/>
            <a:ext cx="274320" cy="274320"/>
          </a:xfrm>
          <a:prstGeom prst="rightArrow">
            <a:avLst/>
          </a:prstGeom>
          <a:solidFill>
            <a:srgbClr val="232D37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Create Backup"/>
          <p:cNvSpPr/>
          <p:nvPr/>
        </p:nvSpPr>
        <p:spPr>
          <a:xfrm>
            <a:off x="10030968" y="1554480"/>
            <a:ext cx="1554480" cy="1143000"/>
          </a:xfrm>
          <a:prstGeom prst="roundRect">
            <a:avLst>
              <a:gd name="adj" fmla="val 10000"/>
            </a:avLst>
          </a:prstGeom>
          <a:solidFill>
            <a:srgbClr val="8C2F39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76688" y="1572768"/>
            <a:ext cx="1463040" cy="110642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sz="1500" b="0" i="0">
                <a:solidFill>
                  <a:srgbClr val="FFFFFF"/>
                </a:solidFill>
                <a:latin typeface="Times New Roman"/>
              </a:rPr>
              <a:t>Create Backup</a:t>
            </a:r>
          </a:p>
        </p:txBody>
      </p:sp>
      <p:graphicFrame>
        <p:nvGraphicFramePr>
          <p:cNvPr id="20" name="Testing table"/>
          <p:cNvGraphicFramePr>
            <a:graphicFrameLocks noGrp="1"/>
          </p:cNvGraphicFramePr>
          <p:nvPr/>
        </p:nvGraphicFramePr>
        <p:xfrm>
          <a:off x="612648" y="3017520"/>
          <a:ext cx="10972800" cy="30175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Function tested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8C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performed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8C2F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8C2F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Times New Roman"/>
                        </a:rPr>
                        <a:t>Add expense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Submit form with date, category, amount, note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New record appears in the expense list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Times New Roman"/>
                        </a:rPr>
                        <a:t>Edit expense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Change amount or note of a record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Updated values shown in the list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6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Times New Roman"/>
                        </a:rPr>
                        <a:t>Delete expense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Click delete and confirm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Record removed after confirmation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Times New Roman"/>
                        </a:rPr>
                        <a:t>Budget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Set a monthly limit for a category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6EE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Report shows limit, spent, remaining, status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6E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232D37"/>
                          </a:solidFill>
                          <a:latin typeface="Times New Roman"/>
                        </a:rPr>
                        <a:t>Backup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Run backup, then open backups page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32D37"/>
                          </a:solidFill>
                          <a:latin typeface="Times New Roman"/>
                        </a:rPr>
                        <a:t>Rows copied to expenses_backup and listed</a:t>
                      </a:r>
                    </a:p>
                  </a:txBody>
                  <a:tcPr marL="109728" marR="109728" anchor="ctr">
                    <a:lnL w="9525">
                      <a:solidFill>
                        <a:srgbClr val="D9C5C8"/>
                      </a:solidFill>
                    </a:lnL>
                    <a:lnR w="9525">
                      <a:solidFill>
                        <a:srgbClr val="D9C5C8"/>
                      </a:solidFill>
                    </a:lnR>
                    <a:lnT w="9525">
                      <a:solidFill>
                        <a:srgbClr val="D9C5C8"/>
                      </a:solidFill>
                    </a:lnT>
                    <a:lnB w="9525">
                      <a:solidFill>
                        <a:srgbClr val="D9C5C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SQL Implementation – Output Screenshots</a:t>
            </a:r>
          </a:p>
        </p:txBody>
      </p:sp>
      <p:sp>
        <p:nvSpPr>
          <p:cNvPr id="3" name="Screenshot placeholder Home Page"/>
          <p:cNvSpPr/>
          <p:nvPr/>
        </p:nvSpPr>
        <p:spPr>
          <a:xfrm>
            <a:off x="612648" y="1554480"/>
            <a:ext cx="3474720" cy="2103120"/>
          </a:xfrm>
          <a:prstGeom prst="rect">
            <a:avLst/>
          </a:prstGeom>
          <a:solidFill>
            <a:srgbClr val="F6EEEF"/>
          </a:solidFill>
          <a:ln w="15875">
            <a:solidFill>
              <a:srgbClr val="8C2F39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sz="1600" b="0" i="0">
                <a:solidFill>
                  <a:srgbClr val="232D37"/>
                </a:solidFill>
                <a:latin typeface="Times New Roman"/>
              </a:rPr>
              <a:t>[Insert Home Page Screenshot Here]</a:t>
            </a:r>
          </a:p>
        </p:txBody>
      </p:sp>
      <p:sp>
        <p:nvSpPr>
          <p:cNvPr id="4" name="Screenshot placeholder Add Expense Page"/>
          <p:cNvSpPr/>
          <p:nvPr/>
        </p:nvSpPr>
        <p:spPr>
          <a:xfrm>
            <a:off x="4361688" y="1554480"/>
            <a:ext cx="3474720" cy="2103120"/>
          </a:xfrm>
          <a:prstGeom prst="rect">
            <a:avLst/>
          </a:prstGeom>
          <a:solidFill>
            <a:srgbClr val="F6EEEF"/>
          </a:solidFill>
          <a:ln w="15875">
            <a:solidFill>
              <a:srgbClr val="8C2F39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sz="1600" b="0" i="0">
                <a:solidFill>
                  <a:srgbClr val="232D37"/>
                </a:solidFill>
                <a:latin typeface="Times New Roman"/>
              </a:rPr>
              <a:t>[Insert Add Expense Page Screenshot Here]</a:t>
            </a:r>
          </a:p>
        </p:txBody>
      </p:sp>
      <p:sp>
        <p:nvSpPr>
          <p:cNvPr id="5" name="Screenshot placeholder Edit Expense Page"/>
          <p:cNvSpPr/>
          <p:nvPr/>
        </p:nvSpPr>
        <p:spPr>
          <a:xfrm>
            <a:off x="8110727" y="1554480"/>
            <a:ext cx="3474720" cy="2103120"/>
          </a:xfrm>
          <a:prstGeom prst="rect">
            <a:avLst/>
          </a:prstGeom>
          <a:solidFill>
            <a:srgbClr val="F6EEEF"/>
          </a:solidFill>
          <a:ln w="15875">
            <a:solidFill>
              <a:srgbClr val="8C2F39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sz="1600" b="0" i="0">
                <a:solidFill>
                  <a:srgbClr val="232D37"/>
                </a:solidFill>
                <a:latin typeface="Times New Roman"/>
              </a:rPr>
              <a:t>[Insert Edit Expense Page Screenshot Here]</a:t>
            </a:r>
          </a:p>
        </p:txBody>
      </p:sp>
      <p:sp>
        <p:nvSpPr>
          <p:cNvPr id="6" name="Screenshot placeholder Budget Page"/>
          <p:cNvSpPr/>
          <p:nvPr/>
        </p:nvSpPr>
        <p:spPr>
          <a:xfrm>
            <a:off x="612648" y="3886200"/>
            <a:ext cx="3474720" cy="2103120"/>
          </a:xfrm>
          <a:prstGeom prst="rect">
            <a:avLst/>
          </a:prstGeom>
          <a:solidFill>
            <a:srgbClr val="F6EEEF"/>
          </a:solidFill>
          <a:ln w="15875">
            <a:solidFill>
              <a:srgbClr val="8C2F39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sz="1600" b="0" i="0">
                <a:solidFill>
                  <a:srgbClr val="232D37"/>
                </a:solidFill>
                <a:latin typeface="Times New Roman"/>
              </a:rPr>
              <a:t>[Insert Budget Page Screenshot Here]</a:t>
            </a:r>
          </a:p>
        </p:txBody>
      </p:sp>
      <p:sp>
        <p:nvSpPr>
          <p:cNvPr id="7" name="Screenshot placeholder Backups Page"/>
          <p:cNvSpPr/>
          <p:nvPr/>
        </p:nvSpPr>
        <p:spPr>
          <a:xfrm>
            <a:off x="4361688" y="3886200"/>
            <a:ext cx="3474720" cy="2103120"/>
          </a:xfrm>
          <a:prstGeom prst="rect">
            <a:avLst/>
          </a:prstGeom>
          <a:solidFill>
            <a:srgbClr val="F6EEEF"/>
          </a:solidFill>
          <a:ln w="15875">
            <a:solidFill>
              <a:srgbClr val="8C2F39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sz="1600" b="0" i="0">
                <a:solidFill>
                  <a:srgbClr val="232D37"/>
                </a:solidFill>
                <a:latin typeface="Times New Roman"/>
              </a:rPr>
              <a:t>[Insert Backups Page Screenshot Here]</a:t>
            </a:r>
          </a:p>
        </p:txBody>
      </p:sp>
      <p:sp>
        <p:nvSpPr>
          <p:cNvPr id="8" name="Screenshot placeholder MySQL Workbench Tables"/>
          <p:cNvSpPr/>
          <p:nvPr/>
        </p:nvSpPr>
        <p:spPr>
          <a:xfrm>
            <a:off x="8110727" y="3886200"/>
            <a:ext cx="3474720" cy="2103120"/>
          </a:xfrm>
          <a:prstGeom prst="rect">
            <a:avLst/>
          </a:prstGeom>
          <a:solidFill>
            <a:srgbClr val="F6EEEF"/>
          </a:solidFill>
          <a:ln w="15875">
            <a:solidFill>
              <a:srgbClr val="8C2F39"/>
            </a:solidFill>
            <a:prstDash val="dash"/>
          </a:ln>
        </p:spPr>
        <p:txBody>
          <a:bodyPr wrap="square" rtlCol="0" anchor="ctr"/>
          <a:lstStyle/>
          <a:p>
            <a:pPr algn="ctr"/>
            <a:r>
              <a:rPr sz="1600" b="0" i="0">
                <a:solidFill>
                  <a:srgbClr val="232D37"/>
                </a:solidFill>
                <a:latin typeface="Times New Roman"/>
              </a:rPr>
              <a:t>[Insert MySQL Workbench Tables Screenshot Here]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ard Achievements"/>
          <p:cNvSpPr/>
          <p:nvPr/>
        </p:nvSpPr>
        <p:spPr>
          <a:xfrm>
            <a:off x="612648" y="1600200"/>
            <a:ext cx="3474720" cy="443484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Badge 1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Card title"/>
          <p:cNvSpPr txBox="1"/>
          <p:nvPr/>
        </p:nvSpPr>
        <p:spPr>
          <a:xfrm>
            <a:off x="1389888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Achievements</a:t>
            </a:r>
          </a:p>
        </p:txBody>
      </p:sp>
      <p:sp>
        <p:nvSpPr>
          <p:cNvPr id="6" name="Card body"/>
          <p:cNvSpPr txBox="1"/>
          <p:nvPr/>
        </p:nvSpPr>
        <p:spPr>
          <a:xfrm>
            <a:off x="841248" y="2468880"/>
            <a:ext cx="3017520" cy="3428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Add, edit, delete with confirmation.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Monthly category-wise budget report.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Backup table and backup view.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Easier than manual tracking: totals and budget status come from SQL queries.</a:t>
            </a:r>
          </a:p>
        </p:txBody>
      </p:sp>
      <p:sp>
        <p:nvSpPr>
          <p:cNvPr id="7" name="Card Limitations"/>
          <p:cNvSpPr/>
          <p:nvPr/>
        </p:nvSpPr>
        <p:spPr>
          <a:xfrm>
            <a:off x="4361688" y="1600200"/>
            <a:ext cx="3474720" cy="443484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dge 2"/>
          <p:cNvSpPr/>
          <p:nvPr/>
        </p:nvSpPr>
        <p:spPr>
          <a:xfrm>
            <a:off x="4590288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Card title"/>
          <p:cNvSpPr txBox="1"/>
          <p:nvPr/>
        </p:nvSpPr>
        <p:spPr>
          <a:xfrm>
            <a:off x="5138927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Limitations</a:t>
            </a:r>
          </a:p>
        </p:txBody>
      </p:sp>
      <p:sp>
        <p:nvSpPr>
          <p:cNvPr id="10" name="Card body"/>
          <p:cNvSpPr txBox="1"/>
          <p:nvPr/>
        </p:nvSpPr>
        <p:spPr>
          <a:xfrm>
            <a:off x="4590288" y="2468880"/>
            <a:ext cx="3017520" cy="3428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Works on a local machine only.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No user login.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No charts or export options.</a:t>
            </a:r>
          </a:p>
        </p:txBody>
      </p:sp>
      <p:sp>
        <p:nvSpPr>
          <p:cNvPr id="11" name="Card Future Scope"/>
          <p:cNvSpPr/>
          <p:nvPr/>
        </p:nvSpPr>
        <p:spPr>
          <a:xfrm>
            <a:off x="8110727" y="1600200"/>
            <a:ext cx="3474720" cy="4434840"/>
          </a:xfrm>
          <a:prstGeom prst="roundRect">
            <a:avLst>
              <a:gd name="adj" fmla="val 4000"/>
            </a:avLst>
          </a:prstGeom>
          <a:solidFill>
            <a:srgbClr val="F6EEEF"/>
          </a:solidFill>
          <a:ln w="9525">
            <a:solidFill>
              <a:srgbClr val="D9C5C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Badge 3"/>
          <p:cNvSpPr/>
          <p:nvPr/>
        </p:nvSpPr>
        <p:spPr>
          <a:xfrm>
            <a:off x="8339327" y="1801368"/>
            <a:ext cx="457200" cy="457200"/>
          </a:xfrm>
          <a:prstGeom prst="ellipse">
            <a:avLst/>
          </a:prstGeom>
          <a:solidFill>
            <a:srgbClr val="8C2F39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Card title"/>
          <p:cNvSpPr txBox="1"/>
          <p:nvPr/>
        </p:nvSpPr>
        <p:spPr>
          <a:xfrm>
            <a:off x="8887967" y="1783080"/>
            <a:ext cx="251460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Future Scope</a:t>
            </a:r>
          </a:p>
        </p:txBody>
      </p:sp>
      <p:sp>
        <p:nvSpPr>
          <p:cNvPr id="14" name="Card body"/>
          <p:cNvSpPr txBox="1"/>
          <p:nvPr/>
        </p:nvSpPr>
        <p:spPr>
          <a:xfrm>
            <a:off x="8339327" y="2468880"/>
            <a:ext cx="3017520" cy="34289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User authentication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Charts and graphs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Export to PDF or Excel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Search and filters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Mobile-friendly design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Online deployment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00200"/>
            <a:ext cx="10972800" cy="4480560"/>
          </a:xfrm>
        </p:spPr>
        <p:txBody>
          <a:bodyPr wrap="square"/>
          <a:lstStyle/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Flask Documentation: </a:t>
            </a:r>
            <a:r>
              <a:rPr sz="2000" b="0" i="0">
                <a:solidFill>
                  <a:srgbClr val="232D37"/>
                </a:solidFill>
                <a:latin typeface="Times New Roman"/>
              </a:rPr>
              <a:t>https://flask.palletsprojects.com/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MySQL Reference Manual: </a:t>
            </a:r>
            <a:r>
              <a:rPr sz="2000" b="0" i="0">
                <a:solidFill>
                  <a:srgbClr val="232D37"/>
                </a:solidFill>
                <a:latin typeface="Times New Roman"/>
              </a:rPr>
              <a:t>https://dev.mysql.com/doc/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Python Documentation: </a:t>
            </a:r>
            <a:r>
              <a:rPr sz="2000" b="0" i="0">
                <a:solidFill>
                  <a:srgbClr val="232D37"/>
                </a:solidFill>
                <a:latin typeface="Times New Roman"/>
              </a:rPr>
              <a:t>https://docs.python.org/3/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MySQL Connector/Python Documentation: </a:t>
            </a:r>
            <a:r>
              <a:rPr sz="2000" b="0" i="0">
                <a:solidFill>
                  <a:srgbClr val="232D37"/>
                </a:solidFill>
                <a:latin typeface="Times New Roman"/>
              </a:rPr>
              <a:t>https://dev.mysql.com/doc/connector-python/en/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1" i="0">
                <a:solidFill>
                  <a:srgbClr val="232D37"/>
                </a:solidFill>
                <a:latin typeface="Times New Roman"/>
              </a:rPr>
              <a:t>Jinja Documentation: </a:t>
            </a:r>
            <a:r>
              <a:rPr sz="2000" b="0" i="0">
                <a:solidFill>
                  <a:srgbClr val="232D37"/>
                </a:solidFill>
                <a:latin typeface="Times New Roman"/>
              </a:rPr>
              <a:t>https://jinja.palletsprojects.com/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b="1">
                <a:solidFill>
                  <a:srgbClr val="232D37"/>
                </a:solidFill>
                <a:latin typeface="Times New Roman"/>
                <a:cs typeface="Times New Roman"/>
              </a:rPr>
              <a:t>ER Diagram</a:t>
            </a:r>
          </a:p>
        </p:txBody>
      </p:sp>
      <p:pic>
        <p:nvPicPr>
          <p:cNvPr id="3" name="ER Diagram" descr="ER diagram of the Daily Expense Tracker showing the entities User, Expense, Category, Budget and Income with their attributes and relationshi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600200"/>
            <a:ext cx="10607040" cy="4268108"/>
          </a:xfrm>
          <a:prstGeom prst="rect">
            <a:avLst/>
          </a:prstGeom>
          <a:ln w="15875">
            <a:solidFill>
              <a:srgbClr val="8C2F39"/>
            </a:solidFill>
          </a:ln>
        </p:spPr>
      </p:pic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1090</Words>
  <Application>Microsoft Office PowerPoint</Application>
  <PresentationFormat>Widescreen</PresentationFormat>
  <Paragraphs>211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 Antiqua</vt:lpstr>
      <vt:lpstr>Bookman Old Style</vt:lpstr>
      <vt:lpstr>Calibri</vt:lpstr>
      <vt:lpstr>Courier New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</vt:lpstr>
      <vt:lpstr>Literature Survey</vt:lpstr>
      <vt:lpstr>Feasibility Study</vt:lpstr>
      <vt:lpstr>System Design &amp; Architecture</vt:lpstr>
      <vt:lpstr>Database Design &amp; ER Diagram</vt:lpstr>
      <vt:lpstr>SQL Implementation – SQL Operations</vt:lpstr>
      <vt:lpstr>SQL Implementation – Workflow &amp; Testing</vt:lpstr>
      <vt:lpstr>SQL Implementation – Output Screenshots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Aayush Kumar</cp:lastModifiedBy>
  <cp:revision>45</cp:revision>
  <dcterms:created xsi:type="dcterms:W3CDTF">2023-11-19T03:41:15Z</dcterms:created>
  <dcterms:modified xsi:type="dcterms:W3CDTF">2026-10-13T10:00:11Z</dcterms:modified>
</cp:coreProperties>
</file>