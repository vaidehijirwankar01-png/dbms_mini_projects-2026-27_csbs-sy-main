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2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xmlns="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latin typeface="Book Antiqua"/>
              </a:rPr>
              <a:t>Project Title: Campus Skill Exchange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A1429130-40B3-459E-8B41-60933F69369B}"/>
              </a:ext>
            </a:extLst>
          </p:cNvPr>
          <p:cNvSpPr txBox="1"/>
          <p:nvPr/>
        </p:nvSpPr>
        <p:spPr>
          <a:xfrm>
            <a:off x="911424" y="3020965"/>
            <a:ext cx="10513168" cy="24416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  <a:defRPr/>
            </a:pPr>
            <a:r>
              <a:rPr sz="1800" b="1" dirty="0">
                <a:latin typeface="Times New Roman"/>
              </a:rPr>
              <a:t>Students Name and PRN no: </a:t>
            </a:r>
            <a:r>
              <a:rPr sz="1800" b="1" dirty="0" err="1">
                <a:latin typeface="Times New Roman"/>
              </a:rPr>
              <a:t>Nisarg</a:t>
            </a:r>
            <a:r>
              <a:rPr sz="1800" b="1" dirty="0">
                <a:latin typeface="Times New Roman"/>
              </a:rPr>
              <a:t> </a:t>
            </a:r>
            <a:r>
              <a:rPr sz="1800" b="1" dirty="0" err="1">
                <a:latin typeface="Times New Roman"/>
              </a:rPr>
              <a:t>Rajurkar</a:t>
            </a:r>
            <a:r>
              <a:rPr sz="1800" b="1" dirty="0">
                <a:latin typeface="Times New Roman"/>
              </a:rPr>
              <a:t> (PRN: </a:t>
            </a:r>
            <a:r>
              <a:rPr lang="en-US" b="1" dirty="0" smtClean="0">
                <a:latin typeface="Times New Roman"/>
              </a:rPr>
              <a:t>RBT25CB018</a:t>
            </a:r>
            <a:r>
              <a:rPr sz="1800" b="1" dirty="0" smtClean="0">
                <a:latin typeface="Times New Roman"/>
              </a:rPr>
              <a:t>) and</a:t>
            </a:r>
            <a:endParaRPr lang="en-US" sz="1800" b="1" dirty="0" smtClean="0">
              <a:latin typeface="Times New Roman"/>
            </a:endParaRPr>
          </a:p>
          <a:p>
            <a:pPr>
              <a:lnSpc>
                <a:spcPct val="200000"/>
              </a:lnSpc>
              <a:spcAft>
                <a:spcPts val="800"/>
              </a:spcAft>
              <a:defRPr/>
            </a:pPr>
            <a:r>
              <a:rPr sz="1800" b="1" dirty="0" smtClean="0">
                <a:latin typeface="Times New Roman"/>
              </a:rPr>
              <a:t> </a:t>
            </a:r>
            <a:r>
              <a:rPr sz="1800" b="1" dirty="0" err="1">
                <a:latin typeface="Times New Roman"/>
              </a:rPr>
              <a:t>Jaywant</a:t>
            </a:r>
            <a:r>
              <a:rPr sz="1800" b="1" dirty="0">
                <a:latin typeface="Times New Roman"/>
              </a:rPr>
              <a:t> (PRN: </a:t>
            </a:r>
            <a:r>
              <a:rPr lang="en-US" sz="1800" b="1" dirty="0" smtClean="0">
                <a:latin typeface="Times New Roman"/>
              </a:rPr>
              <a:t>RBT25CB007</a:t>
            </a:r>
            <a:r>
              <a:rPr sz="1800" b="1" dirty="0" smtClean="0">
                <a:latin typeface="Times New Roman"/>
              </a:rPr>
              <a:t>)</a:t>
            </a:r>
            <a:endParaRPr sz="1800" b="1" dirty="0">
              <a:latin typeface="Times New Roman"/>
            </a:endParaRPr>
          </a:p>
          <a:p>
            <a:pPr>
              <a:spcAft>
                <a:spcPts val="800"/>
              </a:spcAft>
            </a:pPr>
            <a:r>
              <a:rPr sz="1800" b="1" dirty="0">
                <a:latin typeface="Times New Roman"/>
              </a:rPr>
              <a:t>Date: 13 October 2026</a:t>
            </a:r>
          </a:p>
          <a:p>
            <a:pPr>
              <a:spcAft>
                <a:spcPts val="800"/>
              </a:spcAft>
            </a:pPr>
            <a:r>
              <a:rPr sz="1800" b="1" dirty="0">
                <a:latin typeface="Times New Roman"/>
              </a:rPr>
              <a:t>Course Name: Database Management System</a:t>
            </a:r>
          </a:p>
          <a:p>
            <a:pPr>
              <a:spcAft>
                <a:spcPts val="800"/>
              </a:spcAft>
            </a:pPr>
            <a:r>
              <a:rPr sz="1800" b="1" dirty="0">
                <a:latin typeface="Times New Roman"/>
              </a:rPr>
              <a:t>Course Coordinator: Prof. </a:t>
            </a:r>
            <a:r>
              <a:rPr sz="1800" b="1" dirty="0" err="1">
                <a:latin typeface="Times New Roman"/>
              </a:rPr>
              <a:t>Rutuja</a:t>
            </a:r>
            <a:r>
              <a:rPr sz="1800" b="1" dirty="0">
                <a:latin typeface="Times New Roman"/>
              </a:rPr>
              <a:t> S. </a:t>
            </a:r>
            <a:r>
              <a:rPr sz="1800" b="1" dirty="0" err="1">
                <a:latin typeface="Times New Roman"/>
              </a:rPr>
              <a:t>Bachhav</a:t>
            </a:r>
            <a:endParaRPr sz="1800" b="1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Introduction / Background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Problem Definition &amp; Objectives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Literature Survey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Feasibility Study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System Design &amp; Architecture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Database Design &amp; ER Diagram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SQL Implementation &amp; Results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Conclusion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232D37"/>
                </a:solidFill>
                <a:latin typeface="Times New Roman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sz="2000" b="0">
                <a:latin typeface="Times New Roman"/>
              </a:rPr>
              <a:t>Campus Skill Exchange is a web-based peer-learning platform that helps students share skills and learn from one another.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Times New Roman"/>
              </a:rPr>
              <a:t>Students can register, list skills they can teach, add skills they want to learn, find suitable peers, send learning requests, schedule sessions and provide feedback.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Times New Roman"/>
              </a:rPr>
              <a:t>Domain Context: Education technology, peer-to-peer learning and database-driven information management.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Times New Roman"/>
              </a:rPr>
              <a:t>Background: Students often learn informally through friends, class groups and word of mouth. A central website organises this information in one place.</a:t>
            </a:r>
          </a:p>
          <a:p>
            <a:pPr>
              <a:spcAft>
                <a:spcPts val="800"/>
              </a:spcAft>
            </a:pPr>
            <a:r>
              <a:rPr sz="2000" b="0">
                <a:latin typeface="Times New Roman"/>
              </a:rPr>
              <a:t>Motivation: Make student skills easier to discover and support structured, collaborative learning within the campus.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3644587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r>
              <a:rPr sz="1900" b="0" dirty="0" smtClean="0">
                <a:latin typeface="Times New Roman"/>
              </a:rPr>
              <a:t>Problem Definition</a:t>
            </a:r>
            <a:endParaRPr lang="en-US" sz="1900" b="0" dirty="0" smtClean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900" b="0" dirty="0" smtClean="0">
                <a:latin typeface="Times New Roman"/>
              </a:rPr>
              <a:t>Students </a:t>
            </a:r>
            <a:r>
              <a:rPr sz="1900" b="0" dirty="0">
                <a:latin typeface="Times New Roman"/>
              </a:rPr>
              <a:t>may have useful skills to teach but lack a single structured platform to connect with peers who want to learn those skills. Informal communication makes skill discovery, request tracking and session coordination difficult.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Objectives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• Create student registration and login.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• Record skills students can teach and want to learn, including proficiency levels.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• Match learners with students who teach the required skills.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• Manage learning requests and their statuses.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• Schedule online/offline sessions and collect ratings and feedback.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>
              <a:latin typeface="Book Antiqua" panose="0204060205030503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3936975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r>
              <a:rPr sz="1900" b="0" dirty="0" smtClean="0">
                <a:latin typeface="Times New Roman"/>
              </a:rPr>
              <a:t>1</a:t>
            </a:r>
            <a:endParaRPr lang="en-US" sz="1900" b="0" dirty="0" smtClean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900" b="0" dirty="0" smtClean="0">
                <a:latin typeface="Times New Roman"/>
              </a:rPr>
              <a:t> </a:t>
            </a:r>
            <a:r>
              <a:rPr sz="1900" b="0" dirty="0">
                <a:latin typeface="Times New Roman"/>
              </a:rPr>
              <a:t>Informal peer learning (friends, class groups and word of mouth)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Strength: Easy to start and familiar to students. Limitation: Information is scattered and requests are difficult to track.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2. General online learning platforms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Strength: Provide structured learning resources. Limitation: Often focus on courses and content rather than matching students within the same campus.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3. Campus Skill Exchange (proposed system)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Provides student skill profiles, skill matching, learning requests, session scheduling and feedback in one database-backed workflow.</a:t>
            </a:r>
          </a:p>
          <a:p>
            <a:pPr>
              <a:spcAft>
                <a:spcPts val="700"/>
              </a:spcAft>
            </a:pPr>
            <a:r>
              <a:rPr sz="1900" b="0" dirty="0">
                <a:latin typeface="Times New Roman"/>
              </a:rPr>
              <a:t>Project gap addressed: A </a:t>
            </a:r>
            <a:r>
              <a:rPr sz="1900" b="0" dirty="0" err="1">
                <a:latin typeface="Times New Roman"/>
              </a:rPr>
              <a:t>centralised</a:t>
            </a:r>
            <a:r>
              <a:rPr sz="1900" b="0" dirty="0">
                <a:latin typeface="Times New Roman"/>
              </a:rPr>
              <a:t> system for student-to-student skill exchange and tracking.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Technical Feasibility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Python Flask handles web routes and application logic.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MySQL stores student profiles, skills, requests, sessions and feedback.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HTML templates and CSS provide the website interface.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Financial / Business Feasibility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Uses open-source software; local demonstration does not require paid hosting.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Main costs are development time, deployment and maintenance if hosted publicly.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Operational Feasibility</a:t>
            </a:r>
          </a:p>
          <a:p>
            <a:pPr>
              <a:spcAft>
                <a:spcPts val="800"/>
              </a:spcAft>
            </a:pPr>
            <a:r>
              <a:rPr sz="1800" b="0">
                <a:latin typeface="Book Antiqua"/>
              </a:rPr>
              <a:t>• Students can register, manage skills, find matches, make requests, schedule sessions and submit feedback through the website.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1424" y="1988840"/>
            <a:ext cx="10972800" cy="45262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System Architecture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Presentation Layer: HTML templates and CSS display the home page, registration, login, dashboard, skills, matches, requests and sessions.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Application Layer: Python Flask processes form submissions, handles login sessions, applies application rules and executes database operations.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Database Layer: MySQL stores the data in related tables and enforces primary keys, foreign keys and constraints.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Workflow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Register / Login → Add teach and learn skills → View matches → Send learning request → Accept request → Schedule session → Submit rating and feedback.</a:t>
            </a:r>
          </a:p>
          <a:p>
            <a:pPr>
              <a:spcAft>
                <a:spcPts val="700"/>
              </a:spcAft>
            </a:pPr>
            <a:r>
              <a:rPr sz="1900" b="0">
                <a:latin typeface="Times New Roman"/>
              </a:rPr>
              <a:t>Access control: Login is required for student dashboard and learning-management functions.</a:t>
            </a:r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F19DD7C-92FE-4E55-8468-59BEDFEA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Main Entities and Attributes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STUDENT (student_id PK, name, email UNIQUE, phone, department, year, division, password_hash, created_at)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CATEGORY (category_id PK, category_name UNIQUE)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SKILL (skill_id PK, skill_name UNIQUE, category_id FK)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STUDENT_TEACHES (student_id PK/FK, skill_id PK/FK, level)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STUDENT_LEARNS (student_id PK/FK, skill_id PK/FK, desired_level)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LEARNING_REQUEST (request_id PK, sender_id FK, receiver_id FK, skill_id FK, request_date, message, status)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SESSION (session_id PK, request_id FK, session_date, start_time, duration, mode, meeting_link)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FEEDBACK (feedback_id PK, session_id FK, student_id FK, rating, comment)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AVAILABILITY (availability_id PK, student_id FK, weekday, start_time, end_time)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Relationships: Student ↔ Skill is many-to-many through STUDENT_TEACHES and STUDENT_LEARNS. A learning request links students to a skill; accepted requests can lead to sessions and feedback.</a:t>
            </a:r>
          </a:p>
          <a:p>
            <a:pPr>
              <a:spcAft>
                <a:spcPts val="800"/>
              </a:spcAft>
            </a:pPr>
            <a:r>
              <a:rPr sz="1600" b="0">
                <a:latin typeface="Times New Roman"/>
              </a:rPr>
              <a:t>ER notation: PK = Primary Key, FK = Foreign Key. Composite keys prevent duplicate student-skill entries.</a:t>
            </a:r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12648" y="1600200"/>
            <a:ext cx="10972800" cy="4190891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endParaRPr lang="en-US" sz="1600" b="0" dirty="0" smtClean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600" b="0" dirty="0" smtClean="0">
                <a:latin typeface="Times New Roman"/>
              </a:rPr>
              <a:t>Database</a:t>
            </a:r>
            <a:r>
              <a:rPr sz="1600" b="0" dirty="0">
                <a:latin typeface="Times New Roman"/>
              </a:rPr>
              <a:t>: </a:t>
            </a:r>
            <a:r>
              <a:rPr sz="1600" b="0" dirty="0" err="1">
                <a:latin typeface="Times New Roman"/>
              </a:rPr>
              <a:t>campus_skill_exchange</a:t>
            </a:r>
            <a:r>
              <a:rPr sz="1600" b="0" dirty="0">
                <a:latin typeface="Times New Roman"/>
              </a:rPr>
              <a:t> (MySQL)</a:t>
            </a: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The schema uses primary keys, foreign keys, composite keys, UNIQUE and NOT NULL constraints, ENUM values, and referential actions such as CASCADE and SET NULL.</a:t>
            </a: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Example: Find students who teach a skill that the current student wants to learn.</a:t>
            </a: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SELECT </a:t>
            </a:r>
            <a:r>
              <a:rPr sz="1600" b="0" dirty="0" err="1">
                <a:latin typeface="Times New Roman"/>
              </a:rPr>
              <a:t>s.student_id</a:t>
            </a:r>
            <a:r>
              <a:rPr sz="1600" b="0" dirty="0">
                <a:latin typeface="Times New Roman"/>
              </a:rPr>
              <a:t>, s.name, </a:t>
            </a:r>
            <a:r>
              <a:rPr sz="1600" b="0" dirty="0" err="1">
                <a:latin typeface="Times New Roman"/>
              </a:rPr>
              <a:t>sk.skill_name</a:t>
            </a:r>
            <a:r>
              <a:rPr sz="1600" b="0" dirty="0">
                <a:latin typeface="Times New Roman"/>
              </a:rPr>
              <a:t>, </a:t>
            </a:r>
            <a:r>
              <a:rPr sz="1600" b="0" dirty="0" err="1">
                <a:latin typeface="Times New Roman"/>
              </a:rPr>
              <a:t>st.level</a:t>
            </a:r>
            <a:endParaRPr sz="1600" b="0" dirty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FROM student s</a:t>
            </a: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JOIN </a:t>
            </a:r>
            <a:r>
              <a:rPr sz="1600" b="0" dirty="0" err="1">
                <a:latin typeface="Times New Roman"/>
              </a:rPr>
              <a:t>student_teaches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st</a:t>
            </a:r>
            <a:r>
              <a:rPr sz="1600" b="0" dirty="0">
                <a:latin typeface="Times New Roman"/>
              </a:rPr>
              <a:t> ON </a:t>
            </a:r>
            <a:r>
              <a:rPr sz="1600" b="0" dirty="0" err="1">
                <a:latin typeface="Times New Roman"/>
              </a:rPr>
              <a:t>st.student_id</a:t>
            </a:r>
            <a:r>
              <a:rPr sz="1600" b="0" dirty="0">
                <a:latin typeface="Times New Roman"/>
              </a:rPr>
              <a:t> = </a:t>
            </a:r>
            <a:r>
              <a:rPr sz="1600" b="0" dirty="0" err="1">
                <a:latin typeface="Times New Roman"/>
              </a:rPr>
              <a:t>s.student_id</a:t>
            </a:r>
            <a:endParaRPr sz="1600" b="0" dirty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JOIN skill </a:t>
            </a:r>
            <a:r>
              <a:rPr sz="1600" b="0" dirty="0" err="1">
                <a:latin typeface="Times New Roman"/>
              </a:rPr>
              <a:t>sk</a:t>
            </a:r>
            <a:r>
              <a:rPr sz="1600" b="0" dirty="0">
                <a:latin typeface="Times New Roman"/>
              </a:rPr>
              <a:t> ON </a:t>
            </a:r>
            <a:r>
              <a:rPr sz="1600" b="0" dirty="0" err="1">
                <a:latin typeface="Times New Roman"/>
              </a:rPr>
              <a:t>sk.skill_id</a:t>
            </a:r>
            <a:r>
              <a:rPr sz="1600" b="0" dirty="0">
                <a:latin typeface="Times New Roman"/>
              </a:rPr>
              <a:t> = </a:t>
            </a:r>
            <a:r>
              <a:rPr sz="1600" b="0" dirty="0" err="1">
                <a:latin typeface="Times New Roman"/>
              </a:rPr>
              <a:t>st.skill_id</a:t>
            </a:r>
            <a:endParaRPr sz="1600" b="0" dirty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JOIN </a:t>
            </a:r>
            <a:r>
              <a:rPr sz="1600" b="0" dirty="0" err="1">
                <a:latin typeface="Times New Roman"/>
              </a:rPr>
              <a:t>student_learns</a:t>
            </a:r>
            <a:r>
              <a:rPr sz="1600" b="0" dirty="0">
                <a:latin typeface="Times New Roman"/>
              </a:rPr>
              <a:t> </a:t>
            </a:r>
            <a:r>
              <a:rPr sz="1600" b="0" dirty="0" err="1">
                <a:latin typeface="Times New Roman"/>
              </a:rPr>
              <a:t>sl</a:t>
            </a:r>
            <a:r>
              <a:rPr sz="1600" b="0" dirty="0">
                <a:latin typeface="Times New Roman"/>
              </a:rPr>
              <a:t> ON </a:t>
            </a:r>
            <a:r>
              <a:rPr sz="1600" b="0" dirty="0" err="1">
                <a:latin typeface="Times New Roman"/>
              </a:rPr>
              <a:t>sl.skill_id</a:t>
            </a:r>
            <a:r>
              <a:rPr sz="1600" b="0" dirty="0">
                <a:latin typeface="Times New Roman"/>
              </a:rPr>
              <a:t> = </a:t>
            </a:r>
            <a:r>
              <a:rPr sz="1600" b="0" dirty="0" err="1">
                <a:latin typeface="Times New Roman"/>
              </a:rPr>
              <a:t>sk.skill_id</a:t>
            </a:r>
            <a:endParaRPr sz="1600" b="0" dirty="0">
              <a:latin typeface="Times New Roman"/>
            </a:endParaRP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WHERE </a:t>
            </a:r>
            <a:r>
              <a:rPr sz="1600" b="0" dirty="0" err="1">
                <a:latin typeface="Times New Roman"/>
              </a:rPr>
              <a:t>sl.student_id</a:t>
            </a:r>
            <a:r>
              <a:rPr sz="1600" b="0" dirty="0">
                <a:latin typeface="Times New Roman"/>
              </a:rPr>
              <a:t> = %s AND </a:t>
            </a:r>
            <a:r>
              <a:rPr sz="1600" b="0" dirty="0" err="1">
                <a:latin typeface="Times New Roman"/>
              </a:rPr>
              <a:t>s.student_id</a:t>
            </a:r>
            <a:r>
              <a:rPr sz="1600" b="0" dirty="0">
                <a:latin typeface="Times New Roman"/>
              </a:rPr>
              <a:t> &lt;&gt; </a:t>
            </a:r>
            <a:r>
              <a:rPr sz="1600" b="0" dirty="0" err="1">
                <a:latin typeface="Times New Roman"/>
              </a:rPr>
              <a:t>sl.student_id</a:t>
            </a:r>
            <a:r>
              <a:rPr sz="1600" b="0" dirty="0">
                <a:latin typeface="Times New Roman"/>
              </a:rPr>
              <a:t>;</a:t>
            </a:r>
          </a:p>
          <a:p>
            <a:pPr>
              <a:spcAft>
                <a:spcPts val="700"/>
              </a:spcAft>
            </a:pPr>
            <a:r>
              <a:rPr sz="1600" b="0" dirty="0">
                <a:latin typeface="Times New Roman"/>
              </a:rPr>
              <a:t>Expected result: Matching student and skill details, when sample records exist. Actual output depends on running the app with MySQL configured and populated.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972800" cy="1143000"/>
          </a:xfrm>
        </p:spPr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9376" y="1600200"/>
            <a:ext cx="11106072" cy="3529171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r>
              <a:rPr sz="2000" b="0" dirty="0">
                <a:latin typeface="Times New Roman"/>
              </a:rPr>
              <a:t>Campus Skill Exchange provides a structured way for students to share what they know and learn from their peers.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Times New Roman"/>
              </a:rPr>
              <a:t>The project combines a Flask website with a MySQL relational database to manage student accounts, teach/learn skills, matching, learning requests, sessions and feedback.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Times New Roman"/>
              </a:rPr>
              <a:t>Key DBMS concepts demonstrated: relational tables, primary and foreign keys, composite keys, constraints, joins and data relationships.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Times New Roman"/>
              </a:rPr>
              <a:t>Limitations: The project requires correct local database configuration and testing with realistic sample data. Production use would need additional security review and deployment.</a:t>
            </a:r>
          </a:p>
          <a:p>
            <a:pPr>
              <a:spcAft>
                <a:spcPts val="700"/>
              </a:spcAft>
            </a:pPr>
            <a:r>
              <a:rPr sz="2000" b="0" dirty="0">
                <a:latin typeface="Times New Roman"/>
              </a:rPr>
              <a:t>Future Scope: Email notifications, stronger administrator tools, search filters, improved validation, analytics and public hosting.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9416" y="2060848"/>
            <a:ext cx="10972800" cy="45262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1. Project README — Campus Skill Exchange &amp; Peer Learning Management System: features, setup instructions and suggested demo flow.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2. </a:t>
            </a:r>
            <a:r>
              <a:rPr sz="1800" b="0" dirty="0" err="1">
                <a:latin typeface="Times New Roman"/>
              </a:rPr>
              <a:t>schema.sql</a:t>
            </a:r>
            <a:r>
              <a:rPr sz="1800" b="0" dirty="0">
                <a:latin typeface="Times New Roman"/>
              </a:rPr>
              <a:t> — MySQL database and table definitions, primary/foreign keys, constraints and relationships.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3. app.py — Flask routes, login/session handling and database operations.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4. templates/*.html — Website pages for registration, login, dashboard, skills, matches, requests and sessions.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5. static/style.css — Website layout and styling.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6. requirements.txt — Flask, </a:t>
            </a:r>
            <a:r>
              <a:rPr sz="1800" b="0" dirty="0" err="1">
                <a:latin typeface="Times New Roman"/>
              </a:rPr>
              <a:t>mysql</a:t>
            </a:r>
            <a:r>
              <a:rPr sz="1800" b="0" dirty="0">
                <a:latin typeface="Times New Roman"/>
              </a:rPr>
              <a:t>-connector-python and </a:t>
            </a:r>
            <a:r>
              <a:rPr sz="1800" b="0" dirty="0" err="1">
                <a:latin typeface="Times New Roman"/>
              </a:rPr>
              <a:t>Werkzeug</a:t>
            </a:r>
            <a:r>
              <a:rPr sz="1800" b="0" dirty="0">
                <a:latin typeface="Times New Roman"/>
              </a:rPr>
              <a:t> dependencies.</a:t>
            </a:r>
          </a:p>
          <a:p>
            <a:pPr>
              <a:spcAft>
                <a:spcPts val="700"/>
              </a:spcAft>
            </a:pPr>
            <a:r>
              <a:rPr sz="1800" b="0" dirty="0">
                <a:latin typeface="Times New Roman"/>
              </a:rPr>
              <a:t>7. DBMS Mini Project PPT template provided for JSPM’s RSCOE, Department of Computer Science and Business Systems, Academic Year 2026–27.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1158</Words>
  <Application>Microsoft Office PowerPoint</Application>
  <PresentationFormat>Widescreen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&amp; Results  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Technocare</cp:lastModifiedBy>
  <cp:revision>45</cp:revision>
  <dcterms:created xsi:type="dcterms:W3CDTF">2023-11-19T03:41:15Z</dcterms:created>
  <dcterms:modified xsi:type="dcterms:W3CDTF">2026-10-13T18:14:56Z</dcterms:modified>
</cp:coreProperties>
</file>