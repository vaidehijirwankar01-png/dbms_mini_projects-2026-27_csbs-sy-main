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8" r:id="rId11"/>
    <p:sldId id="28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</a:t>
            </a:r>
            <a: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Farmer to Consumer Local Marketplace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2571579"/>
            <a:ext cx="10369152" cy="33404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 </a:t>
            </a:r>
          </a:p>
          <a:p>
            <a:pPr>
              <a:lnSpc>
                <a:spcPct val="200000"/>
              </a:lnSpc>
              <a:defRPr/>
            </a:pPr>
            <a:r>
              <a:rPr lang="en-US" dirty="0">
                <a:solidFill>
                  <a:prstClr val="black"/>
                </a:solidFill>
                <a:latin typeface="Book Antiqua"/>
              </a:rPr>
              <a:t>Prathmesh Deshmukh (RBT25CB044)</a:t>
            </a:r>
          </a:p>
          <a:p>
            <a:pPr>
              <a:lnSpc>
                <a:spcPct val="200000"/>
              </a:lnSpc>
              <a:defRPr/>
            </a:pPr>
            <a:r>
              <a:rPr lang="en-US" dirty="0">
                <a:solidFill>
                  <a:prstClr val="black"/>
                </a:solidFill>
                <a:latin typeface="Book Antiqua"/>
              </a:rPr>
              <a:t>Om Akolkar (RBT25CB046)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>Date: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October 2026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Database Management System </a:t>
            </a:r>
            <a:endParaRPr lang="en-US" dirty="0">
              <a:solidFill>
                <a:prstClr val="black"/>
              </a:solidFill>
              <a:latin typeface="Book Antiqua"/>
            </a:endParaRP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</a:t>
            </a:r>
            <a:r>
              <a:rPr lang="en-US" dirty="0" err="1">
                <a:solidFill>
                  <a:prstClr val="black"/>
                </a:solidFill>
                <a:latin typeface="Book Antiqua"/>
              </a:rPr>
              <a:t>Bachhav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101" name="Body"/>
          <p:cNvSpPr>
            <a:spLocks noGrp="1"/>
          </p:cNvSpPr>
          <p:nvPr>
            <p:ph idx="1"/>
          </p:nvPr>
        </p:nvSpPr>
        <p:spPr>
          <a:xfrm>
            <a:off x="609600" y="1500000"/>
            <a:ext cx="10972800" cy="3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solidFill>
                  <a:srgbClr val="2E7D32"/>
                </a:solidFill>
                <a:latin typeface="Times New Roman"/>
                <a:cs typeface="Times New Roman"/>
              </a:rPr>
              <a:t>Definition: </a:t>
            </a: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A farmer to consumer local marketplace is a web application where farmers sell produce directly to nearby consumers, backed by a relational database.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solidFill>
                  <a:srgbClr val="2E7D32"/>
                </a:solidFill>
                <a:latin typeface="Times New Roman"/>
                <a:cs typeface="Times New Roman"/>
              </a:rPr>
              <a:t>Overview: </a:t>
            </a: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Farmers list products priced per kg or gram, consumers order them, and an administrator manages users, orders, payments and deliveries.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solidFill>
                  <a:srgbClr val="2E7D32"/>
                </a:solidFill>
                <a:latin typeface="Times New Roman"/>
                <a:cs typeface="Times New Roman"/>
              </a:rPr>
              <a:t>Background: </a:t>
            </a: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Farm produce usually passes through traders and commission agents, which reduces the farmer’s share and hides price and origin from the buyer.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solidFill>
                  <a:srgbClr val="2E7D32"/>
                </a:solidFill>
                <a:latin typeface="Times New Roman"/>
                <a:cs typeface="Times New Roman"/>
              </a:rPr>
              <a:t>Motivation: </a:t>
            </a: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A direct digital channel gives farmers fair prices and consumers fresh local produce, and it needs consistent handling of stock, orders and payments, which is exactly what a DBMS provides.</a:t>
            </a:r>
          </a:p>
        </p:txBody>
      </p:sp>
      <p:sp>
        <p:nvSpPr>
          <p:cNvPr id="102" name="Flow Farmer"/>
          <p:cNvSpPr txBox="1"/>
          <p:nvPr/>
        </p:nvSpPr>
        <p:spPr>
          <a:xfrm>
            <a:off x="696000" y="4850000"/>
            <a:ext cx="3000000" cy="1050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ook Antiqua"/>
                <a:cs typeface="Book Antiqua"/>
              </a:rPr>
              <a:t>Farmer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imes New Roman"/>
                <a:cs typeface="Times New Roman"/>
              </a:rPr>
              <a:t>lists products and prices</a:t>
            </a:r>
          </a:p>
        </p:txBody>
      </p:sp>
      <p:sp>
        <p:nvSpPr>
          <p:cNvPr id="103" name="Arrow 1"/>
          <p:cNvSpPr txBox="1"/>
          <p:nvPr/>
        </p:nvSpPr>
        <p:spPr>
          <a:xfrm>
            <a:off x="3846000" y="5150000"/>
            <a:ext cx="600000" cy="450000"/>
          </a:xfrm>
          <a:prstGeom prst="rightArrow">
            <a:avLst/>
          </a:prstGeom>
          <a:solidFill>
            <a:srgbClr val="A5D6A7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endParaRPr lang="en-US"/>
          </a:p>
        </p:txBody>
      </p:sp>
      <p:sp>
        <p:nvSpPr>
          <p:cNvPr id="104" name="Flow Marketplace"/>
          <p:cNvSpPr txBox="1"/>
          <p:nvPr/>
        </p:nvSpPr>
        <p:spPr>
          <a:xfrm>
            <a:off x="4596000" y="4850000"/>
            <a:ext cx="3000000" cy="1050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ook Antiqua"/>
                <a:cs typeface="Book Antiqua"/>
              </a:rPr>
              <a:t>Local Marketplace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imes New Roman"/>
                <a:cs typeface="Times New Roman"/>
              </a:rPr>
              <a:t>Flask app + MySQL database</a:t>
            </a:r>
          </a:p>
        </p:txBody>
      </p:sp>
      <p:sp>
        <p:nvSpPr>
          <p:cNvPr id="105" name="Arrow 2"/>
          <p:cNvSpPr txBox="1"/>
          <p:nvPr/>
        </p:nvSpPr>
        <p:spPr>
          <a:xfrm>
            <a:off x="7746000" y="5150000"/>
            <a:ext cx="600000" cy="450000"/>
          </a:xfrm>
          <a:prstGeom prst="rightArrow">
            <a:avLst/>
          </a:prstGeom>
          <a:solidFill>
            <a:srgbClr val="A5D6A7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endParaRPr lang="en-US"/>
          </a:p>
        </p:txBody>
      </p:sp>
      <p:sp>
        <p:nvSpPr>
          <p:cNvPr id="106" name="Flow Consumer"/>
          <p:cNvSpPr txBox="1"/>
          <p:nvPr/>
        </p:nvSpPr>
        <p:spPr>
          <a:xfrm>
            <a:off x="8496000" y="4850000"/>
            <a:ext cx="3000000" cy="1050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ook Antiqua"/>
                <a:cs typeface="Book Antiqua"/>
              </a:rPr>
              <a:t>Consumer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imes New Roman"/>
                <a:cs typeface="Times New Roman"/>
              </a:rPr>
              <a:t>orders and pays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107" name="Problem Definition Card"/>
          <p:cNvSpPr txBox="1"/>
          <p:nvPr/>
        </p:nvSpPr>
        <p:spPr>
          <a:xfrm>
            <a:off x="609600" y="1500000"/>
            <a:ext cx="5400000" cy="43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Problem Definition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To design and build a database-backed application where farmers can add and remove products and set prices by unit (kg or gram), consumers can order them through a separate portal, and an administrator can supervise users, orders, payments and deliveries.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The database itself must keep stock, order totals and order status consistent.</a:t>
            </a:r>
          </a:p>
        </p:txBody>
      </p:sp>
      <p:sp>
        <p:nvSpPr>
          <p:cNvPr id="108" name="Objectives Card"/>
          <p:cNvSpPr txBox="1"/>
          <p:nvPr/>
        </p:nvSpPr>
        <p:spPr>
          <a:xfrm>
            <a:off x="6182400" y="1500000"/>
            <a:ext cx="5400000" cy="43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Objectives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Design a relational schema from the ER diagram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Provide three portals: Farmer, Consumer, Administrator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Implement CRUD on products, users, orders, payments and deliveries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Use triggers for stock, totals and order status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Use cursors for sales and summary reports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Build a simple Flask and MySQL two-tier application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109" name="Survey Card 1"/>
          <p:cNvSpPr txBox="1"/>
          <p:nvPr/>
        </p:nvSpPr>
        <p:spPr>
          <a:xfrm>
            <a:off x="609600" y="1500000"/>
            <a:ext cx="3500000" cy="29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Mandi and government platforms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Example: eNAM. Online trading of agricultural commodities between registered traders and mandis. Built for bulk trade, not for households.</a:t>
            </a:r>
          </a:p>
        </p:txBody>
      </p:sp>
      <p:sp>
        <p:nvSpPr>
          <p:cNvPr id="110" name="Survey Card 2"/>
          <p:cNvSpPr txBox="1"/>
          <p:nvPr/>
        </p:nvSpPr>
        <p:spPr>
          <a:xfrm>
            <a:off x="4346000" y="1500000"/>
            <a:ext cx="3500000" cy="29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Online grocery and agri-supply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Examples: BigBasket, DeHaat. They buy from farmers and sell to consumers or businesses. The platform sits between farmer and buyer and sets prices.</a:t>
            </a:r>
          </a:p>
        </p:txBody>
      </p:sp>
      <p:sp>
        <p:nvSpPr>
          <p:cNvPr id="111" name="Survey Card 3"/>
          <p:cNvSpPr txBox="1"/>
          <p:nvPr/>
        </p:nvSpPr>
        <p:spPr>
          <a:xfrm>
            <a:off x="8082400" y="1500000"/>
            <a:ext cx="3500000" cy="29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Informal local selling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Farmers’ markets, roadside sales, WhatsApp groups. Direct, but no stock tracking, order records or payment history.</a:t>
            </a:r>
          </a:p>
        </p:txBody>
      </p:sp>
      <p:sp>
        <p:nvSpPr>
          <p:cNvPr id="112" name="Gaps Box"/>
          <p:cNvSpPr txBox="1"/>
          <p:nvPr/>
        </p:nvSpPr>
        <p:spPr>
          <a:xfrm>
            <a:off x="609600" y="4550000"/>
            <a:ext cx="109728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E7D32"/>
                </a:solidFill>
                <a:latin typeface="Book Antiqua"/>
                <a:cs typeface="Book Antiqua"/>
              </a:rPr>
              <a:t>Gaps identified</a:t>
            </a:r>
          </a:p>
          <a:p>
            <a:pPr marL="285750" indent="-285750" algn="l"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Small farmers have little control over price</a:t>
            </a:r>
          </a:p>
          <a:p>
            <a:pPr marL="285750" indent="-285750" algn="l"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Informal selling has no automatic stock update, so products can be over-sold</a:t>
            </a:r>
          </a:p>
          <a:p>
            <a:pPr marL="285750" indent="-285750" algn="l"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Orders, payments and deliveries are not kept in one consistent place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113" name="Feasibility Card 1"/>
          <p:cNvSpPr txBox="1"/>
          <p:nvPr/>
        </p:nvSpPr>
        <p:spPr>
          <a:xfrm>
            <a:off x="609600" y="1500000"/>
            <a:ext cx="3500000" cy="39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Technical Feasibility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MySQL, Python, Flask and plain HTML and CSS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Runs on an ordinary laptop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Skills used are covered in the course</a:t>
            </a:r>
          </a:p>
        </p:txBody>
      </p:sp>
      <p:sp>
        <p:nvSpPr>
          <p:cNvPr id="114" name="Feasibility Card 2"/>
          <p:cNvSpPr txBox="1"/>
          <p:nvPr/>
        </p:nvSpPr>
        <p:spPr>
          <a:xfrm>
            <a:off x="4346000" y="1500000"/>
            <a:ext cx="3500000" cy="39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Financial / Business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All tools are free and open source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No payment gateway fees in this version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Farmers keep the margin that middlemen take</a:t>
            </a:r>
          </a:p>
        </p:txBody>
      </p:sp>
      <p:sp>
        <p:nvSpPr>
          <p:cNvPr id="115" name="Feasibility Card 3"/>
          <p:cNvSpPr txBox="1"/>
          <p:nvPr/>
        </p:nvSpPr>
        <p:spPr>
          <a:xfrm>
            <a:off x="8082400" y="1500000"/>
            <a:ext cx="3500000" cy="39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Operational Feasibility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Simple forms for each of the three roles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Triggers keep stock and totals correct automatically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Administrator supervises orders and deliveries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pic>
        <p:nvPicPr>
          <p:cNvPr id="116" name="System architecture diagram" descr="System 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00000"/>
            <a:ext cx="7300000" cy="399066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7" name="Body"/>
          <p:cNvSpPr>
            <a:spLocks noGrp="1"/>
          </p:cNvSpPr>
          <p:nvPr>
            <p:ph idx="1"/>
          </p:nvPr>
        </p:nvSpPr>
        <p:spPr>
          <a:xfrm>
            <a:off x="8100000" y="1500000"/>
            <a:ext cx="3482400" cy="4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rgbClr val="2E7D32"/>
                </a:solidFill>
                <a:latin typeface="Times New Roman"/>
                <a:cs typeface="Times New Roman"/>
              </a:rPr>
              <a:t>Client tier: </a:t>
            </a: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HTML pages and basic CSS for the three portals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rgbClr val="2E7D32"/>
                </a:solidFill>
                <a:latin typeface="Times New Roman"/>
                <a:cs typeface="Times New Roman"/>
              </a:rPr>
              <a:t>Application tier: </a:t>
            </a: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Flask app using MySQL Connector; handles sessions, orders and errors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rgbClr val="2E7D32"/>
                </a:solidFill>
                <a:latin typeface="Times New Roman"/>
                <a:cs typeface="Times New Roman"/>
              </a:rPr>
              <a:t>Database tier: </a:t>
            </a: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MySQL farm_market with constraints, triggers and cursor procedures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rgbClr val="2E7D32"/>
                </a:solidFill>
                <a:latin typeface="Times New Roman"/>
                <a:cs typeface="Times New Roman"/>
              </a:rPr>
              <a:t>Roles: </a:t>
            </a: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Farmer, Consumer, Administrator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</p:txBody>
      </p:sp>
      <p:pic>
        <p:nvPicPr>
          <p:cNvPr id="118" name="ER diagram" descr="ER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00000"/>
            <a:ext cx="6800000" cy="4641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9" name="Body"/>
          <p:cNvSpPr>
            <a:spLocks noGrp="1"/>
          </p:cNvSpPr>
          <p:nvPr>
            <p:ph idx="1"/>
          </p:nvPr>
        </p:nvSpPr>
        <p:spPr>
          <a:xfrm>
            <a:off x="7600000" y="1500000"/>
            <a:ext cx="3982400" cy="4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Farmer (1) lists Products (N)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Consumer (1) places Orders (N)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Order_Details is a weak entity, keyed by order_id and line_no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Products (1) appear in Order_Details (N)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Order (1) is paid through Payment (1)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Payment (1) relates to Delivery (N)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Phone numbers are multivalued, so they use separate tables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total_price is a derived attribute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  <a:b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122" name="Body"/>
          <p:cNvSpPr>
            <a:spLocks noGrp="1"/>
          </p:cNvSpPr>
          <p:nvPr>
            <p:ph idx="1"/>
          </p:nvPr>
        </p:nvSpPr>
        <p:spPr>
          <a:xfrm>
            <a:off x="609600" y="1500000"/>
            <a:ext cx="62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b="1" dirty="0">
                <a:solidFill>
                  <a:srgbClr val="2E7D32"/>
                </a:solidFill>
                <a:latin typeface="Times New Roman"/>
                <a:cs typeface="Times New Roman"/>
              </a:rPr>
              <a:t>10 tables </a:t>
            </a: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with primary and foreign keys, CHECK constraints and a generated total_price column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b="1" dirty="0">
                <a:solidFill>
                  <a:srgbClr val="2E7D32"/>
                </a:solidFill>
                <a:latin typeface="Times New Roman"/>
                <a:cs typeface="Times New Roman"/>
              </a:rPr>
              <a:t>CRUD: </a:t>
            </a: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products, farmer and consumer registration, orders, payments and deliveries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b="1" dirty="0">
                <a:solidFill>
                  <a:srgbClr val="2E7D32"/>
                </a:solidFill>
                <a:latin typeface="Times New Roman"/>
                <a:cs typeface="Times New Roman"/>
              </a:rPr>
              <a:t>7 triggers: </a:t>
            </a: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stock check, stock update, order total, cancel and restore stock, payment check, payment status, shipping status, product delete log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b="1" dirty="0">
                <a:solidFill>
                  <a:srgbClr val="2E7D32"/>
                </a:solidFill>
                <a:latin typeface="Times New Roman"/>
                <a:cs typeface="Times New Roman"/>
              </a:rPr>
              <a:t>2 cursor procedures: </a:t>
            </a: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sp_farmer_sales_report and sp_admin_farmer_summary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b="1" dirty="0">
                <a:solidFill>
                  <a:srgbClr val="2E7D32"/>
                </a:solidFill>
                <a:latin typeface="Times New Roman"/>
                <a:cs typeface="Times New Roman"/>
              </a:rPr>
              <a:t>Orders run as one transaction; </a:t>
            </a:r>
            <a:r>
              <a:rPr lang="en-US" sz="1700" dirty="0">
                <a:solidFill>
                  <a:srgbClr val="232D37"/>
                </a:solidFill>
                <a:latin typeface="Times New Roman"/>
                <a:cs typeface="Times New Roman"/>
              </a:rPr>
              <a:t>any trigger error rolls everything back</a:t>
            </a:r>
          </a:p>
        </p:txBody>
      </p:sp>
      <p:pic>
        <p:nvPicPr>
          <p:cNvPr id="120" name="SHOW TRIGGERS result" descr="SHOW TRIGGERS resul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500000"/>
            <a:ext cx="4582400" cy="212009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21" name="SHOW PROCEDURE STATUS result" descr="SHOW PROCEDURE STATUS resu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3770090"/>
            <a:ext cx="4582400" cy="259743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Screenshots</a:t>
            </a:r>
            <a:b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123" name="Screenshot 1"/>
          <p:cNvSpPr txBox="1"/>
          <p:nvPr/>
        </p:nvSpPr>
        <p:spPr>
          <a:xfrm>
            <a:off x="609600" y="1500000"/>
            <a:ext cx="3500000" cy="2850000"/>
          </a:xfrm>
          <a:prstGeom prst="rect">
            <a:avLst/>
          </a:prstGeom>
          <a:solidFill>
            <a:srgbClr val="F7F7F7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F7F7F"/>
                </a:solidFill>
                <a:latin typeface="Times New Roman"/>
                <a:cs typeface="Times New Roman"/>
              </a:rPr>
              <a:t>Screenshot placeholder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Times New Roman"/>
                <a:cs typeface="Times New Roman"/>
              </a:rPr>
              <a:t>Farmer portal: product list and sales report</a:t>
            </a:r>
          </a:p>
        </p:txBody>
      </p:sp>
      <p:sp>
        <p:nvSpPr>
          <p:cNvPr id="124" name="Screenshot 2"/>
          <p:cNvSpPr txBox="1"/>
          <p:nvPr/>
        </p:nvSpPr>
        <p:spPr>
          <a:xfrm>
            <a:off x="4346000" y="1500000"/>
            <a:ext cx="3500000" cy="2850000"/>
          </a:xfrm>
          <a:prstGeom prst="rect">
            <a:avLst/>
          </a:prstGeom>
          <a:solidFill>
            <a:srgbClr val="F7F7F7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F7F7F"/>
                </a:solidFill>
                <a:latin typeface="Times New Roman"/>
                <a:cs typeface="Times New Roman"/>
              </a:rPr>
              <a:t>Screenshot placeholder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Times New Roman"/>
                <a:cs typeface="Times New Roman"/>
              </a:rPr>
              <a:t>Consumer portal: products and order form</a:t>
            </a:r>
          </a:p>
        </p:txBody>
      </p:sp>
      <p:sp>
        <p:nvSpPr>
          <p:cNvPr id="125" name="Screenshot 3"/>
          <p:cNvSpPr txBox="1"/>
          <p:nvPr/>
        </p:nvSpPr>
        <p:spPr>
          <a:xfrm>
            <a:off x="8082400" y="1500000"/>
            <a:ext cx="3500000" cy="2850000"/>
          </a:xfrm>
          <a:prstGeom prst="rect">
            <a:avLst/>
          </a:prstGeom>
          <a:solidFill>
            <a:srgbClr val="F7F7F7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F7F7F"/>
                </a:solidFill>
                <a:latin typeface="Times New Roman"/>
                <a:cs typeface="Times New Roman"/>
              </a:rPr>
              <a:t>Screenshot placeholder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Times New Roman"/>
                <a:cs typeface="Times New Roman"/>
              </a:rPr>
              <a:t>Administrator portal: overview and orders</a:t>
            </a:r>
          </a:p>
        </p:txBody>
      </p:sp>
      <p:sp>
        <p:nvSpPr>
          <p:cNvPr id="126" name="Screenshot 4"/>
          <p:cNvSpPr txBox="1"/>
          <p:nvPr/>
        </p:nvSpPr>
        <p:spPr>
          <a:xfrm>
            <a:off x="609600" y="4500000"/>
            <a:ext cx="5368000" cy="1750000"/>
          </a:xfrm>
          <a:prstGeom prst="rect">
            <a:avLst/>
          </a:prstGeom>
          <a:solidFill>
            <a:srgbClr val="F7F7F7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F7F7F"/>
                </a:solidFill>
                <a:latin typeface="Times New Roman"/>
                <a:cs typeface="Times New Roman"/>
              </a:rPr>
              <a:t>Screenshot placeholder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Times New Roman"/>
                <a:cs typeface="Times New Roman"/>
              </a:rPr>
              <a:t>My Orders page: payment and cancel</a:t>
            </a:r>
          </a:p>
        </p:txBody>
      </p:sp>
      <p:sp>
        <p:nvSpPr>
          <p:cNvPr id="127" name="Screenshot 5"/>
          <p:cNvSpPr txBox="1"/>
          <p:nvPr/>
        </p:nvSpPr>
        <p:spPr>
          <a:xfrm>
            <a:off x="6214000" y="4500000"/>
            <a:ext cx="5368000" cy="1750000"/>
          </a:xfrm>
          <a:prstGeom prst="rect">
            <a:avLst/>
          </a:prstGeom>
          <a:solidFill>
            <a:srgbClr val="F7F7F7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F7F7F"/>
                </a:solidFill>
                <a:latin typeface="Times New Roman"/>
                <a:cs typeface="Times New Roman"/>
              </a:rPr>
              <a:t>Screenshot placeholder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Times New Roman"/>
                <a:cs typeface="Times New Roman"/>
              </a:rPr>
              <a:t>Admin delivery form or trigger result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128" name="Achievements Card"/>
          <p:cNvSpPr txBox="1"/>
          <p:nvPr/>
        </p:nvSpPr>
        <p:spPr>
          <a:xfrm>
            <a:off x="609600" y="1500000"/>
            <a:ext cx="5400000" cy="43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What was achieved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Working three-portal marketplace on one database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Farmers set prices per kg or gram and manage stock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Stock, totals and order status update automatically through triggers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Sales report and admin summary use cursors</a:t>
            </a:r>
          </a:p>
        </p:txBody>
      </p:sp>
      <p:sp>
        <p:nvSpPr>
          <p:cNvPr id="129" name="Future Scope Card"/>
          <p:cNvSpPr txBox="1"/>
          <p:nvPr/>
        </p:nvSpPr>
        <p:spPr>
          <a:xfrm>
            <a:off x="6182400" y="1500000"/>
            <a:ext cx="5400000" cy="4300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32"/>
                </a:solidFill>
                <a:latin typeface="Book Antiqua"/>
                <a:cs typeface="Book Antiqua"/>
              </a:rPr>
              <a:t>Limitations and future scope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Hash passwords instead of plain text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Add a real payment gateway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Add product photos, ratings and location search</a:t>
            </a:r>
          </a:p>
          <a:p>
            <a:pPr marL="285750" indent="-285750" algn="l"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solidFill>
                  <a:srgbClr val="232D37"/>
                </a:solidFill>
                <a:latin typeface="Times New Roman"/>
                <a:cs typeface="Times New Roman"/>
              </a:rPr>
              <a:t>Add notifications and live delivery tracking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130" name="Body"/>
          <p:cNvSpPr>
            <a:spLocks noGrp="1"/>
          </p:cNvSpPr>
          <p:nvPr>
            <p:ph idx="1"/>
          </p:nvPr>
        </p:nvSpPr>
        <p:spPr>
          <a:xfrm>
            <a:off x="609600" y="1500000"/>
            <a:ext cx="10972800" cy="4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[1] R. Elmasri and S. B. Navathe, Fundamentals of Database Systems, Pearson.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[2] A. Silberschatz, H. F. Korth and S. Sudarshan, Database System Concepts, McGraw-Hill.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[3] Oracle Corporation, MySQL 8.0 Reference Manual, https://dev.mysql.com/doc/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[4] Oracle Corporation, MySQL Connector/Python Developer Guide, https://dev.mysql.com/doc/connector-python/en/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[5] Pallets Projects, Flask Documentation, https://flask.palletsprojects.com/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800" dirty="0">
                <a:solidFill>
                  <a:srgbClr val="232D37"/>
                </a:solidFill>
                <a:latin typeface="Times New Roman"/>
                <a:cs typeface="Times New Roman"/>
              </a:rPr>
              <a:t>[6] National Agriculture Market (eNAM), Government of India, https://enam.gov.in/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1036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 Antiqua</vt:lpstr>
      <vt:lpstr>Bookman Old Style</vt:lpstr>
      <vt:lpstr>Calibri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Database Design &amp; ER Diagram </vt:lpstr>
      <vt:lpstr>SQL Implementation &amp; Results  </vt:lpstr>
      <vt:lpstr>Application Screenshots 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Prathmesh Deshmukh</cp:lastModifiedBy>
  <cp:revision>45</cp:revision>
  <dcterms:created xsi:type="dcterms:W3CDTF">2023-11-19T03:41:15Z</dcterms:created>
  <dcterms:modified xsi:type="dcterms:W3CDTF">2026-10-21T06:14:11Z</dcterms:modified>
</cp:coreProperties>
</file>