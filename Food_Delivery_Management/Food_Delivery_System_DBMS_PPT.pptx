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1" r:id="rId2"/>
    <p:sldId id="273" r:id="rId3"/>
    <p:sldId id="274" r:id="rId4"/>
    <p:sldId id="278" r:id="rId5"/>
    <p:sldId id="279" r:id="rId6"/>
    <p:sldId id="283" r:id="rId7"/>
    <p:sldId id="286" r:id="rId8"/>
    <p:sldId id="282" r:id="rId9"/>
    <p:sldId id="288" r:id="rId10"/>
    <p:sldId id="287" r:id="rId11"/>
    <p:sldId id="290" r:id="rId12"/>
    <p:sldId id="289" r:id="rId13"/>
    <p:sldId id="28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28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09D7-0ED3-4FB4-968D-50574EBBA179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63A1E-539A-4081-80D9-4186E0CB4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5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5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78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4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1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4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7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7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96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1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0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99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87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JSPM s Rajarshi Shahu College of Engineering, Tathawade - 2023 Admission,  Fees, Courses, Ranking, Placement">
            <a:extLst>
              <a:ext uri="{FF2B5EF4-FFF2-40B4-BE49-F238E27FC236}">
                <a16:creationId xmlns:a16="http://schemas.microsoft.com/office/drawing/2014/main" id="{2AC37EFD-D716-4491-B060-F8223104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38665" cy="10247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09B56-7E2F-4878-BFF9-1726B9C0D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544" y="41200"/>
            <a:ext cx="1003735" cy="937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389D3B-D090-41D6-BB8D-F8D1A3EC2634}"/>
              </a:ext>
            </a:extLst>
          </p:cNvPr>
          <p:cNvSpPr txBox="1"/>
          <p:nvPr/>
        </p:nvSpPr>
        <p:spPr>
          <a:xfrm>
            <a:off x="1038666" y="-36784"/>
            <a:ext cx="9809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13232">
              <a:spcBef>
                <a:spcPct val="50000"/>
              </a:spcBef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JSPM’s 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Rajarshi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Shahu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College of Engineering,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Tathawade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, Pune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(An Autonomous Institute affiliated to Savitribai Phule Pune University)</a:t>
            </a:r>
            <a:b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Department of Computer Science and Business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AA1BD-5C37-4898-838A-C1F25A58D660}"/>
              </a:ext>
            </a:extLst>
          </p:cNvPr>
          <p:cNvSpPr txBox="1"/>
          <p:nvPr/>
        </p:nvSpPr>
        <p:spPr>
          <a:xfrm>
            <a:off x="0" y="87955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Academic Year: 2026-27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74F7D-56E3-4E55-95F0-C0D8C8C11BE8}"/>
              </a:ext>
            </a:extLst>
          </p:cNvPr>
          <p:cNvSpPr txBox="1"/>
          <p:nvPr/>
        </p:nvSpPr>
        <p:spPr>
          <a:xfrm>
            <a:off x="-96688" y="1631304"/>
            <a:ext cx="12192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Project Title: Food Delivery System</a:t>
            </a: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29130-40B3-459E-8B41-60933F69369B}"/>
              </a:ext>
            </a:extLst>
          </p:cNvPr>
          <p:cNvSpPr txBox="1"/>
          <p:nvPr/>
        </p:nvSpPr>
        <p:spPr>
          <a:xfrm>
            <a:off x="911424" y="3125576"/>
            <a:ext cx="10241280" cy="2232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Students Name and PRN no: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Nirbhay Ane (RBT25CB023), Dhruv Shah (RBT25CB019)</a:t>
            </a:r>
            <a:r>
              <a:rPr lang="en-US" b="0" dirty="0">
                <a:solidFill>
                  <a:prstClr val="black"/>
                </a:solidFill>
                <a:latin typeface="Book Antiqua"/>
              </a:rPr>
              <a:t>  </a:t>
            </a:r>
            <a:br>
              <a:rPr lang="en-US" b="1" dirty="0">
                <a:solidFill>
                  <a:prstClr val="black"/>
                </a:solidFill>
                <a:latin typeface="Book Antiqua"/>
              </a:rPr>
            </a:br>
            <a:r>
              <a:rPr lang="en-US" b="1" dirty="0">
                <a:solidFill>
                  <a:prstClr val="black"/>
                </a:solidFill>
                <a:latin typeface="Book Antiqua"/>
              </a:rPr>
              <a:t>Date: </a:t>
            </a:r>
            <a:r>
              <a:rPr lang="en-US" b="0" dirty="0">
                <a:solidFill>
                  <a:prstClr val="black"/>
                </a:solidFill>
                <a:latin typeface="Book Antiqua"/>
              </a:rPr>
              <a:t>14 October 2026</a:t>
            </a: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Name: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Database Management System </a:t>
            </a:r>
            <a:endParaRPr lang="en-US" dirty="0">
              <a:solidFill>
                <a:prstClr val="black"/>
              </a:solidFill>
              <a:latin typeface="Book Antiqua"/>
            </a:endParaRP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Coordinator: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Prof. Rutuja S. </a:t>
            </a:r>
            <a:r>
              <a:rPr lang="en-US" dirty="0" err="1">
                <a:solidFill>
                  <a:prstClr val="black"/>
                </a:solidFill>
                <a:latin typeface="Book Antiqua"/>
              </a:rPr>
              <a:t>Bachhav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 </a:t>
            </a:r>
            <a:endParaRPr lang="en-IN" dirty="0">
              <a:solidFill>
                <a:prstClr val="black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6023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2341-A07E-40AE-B9DD-ADCB962B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Book Antiqua" panose="02040602050305030304" pitchFamily="18" charset="0"/>
                <a:ea typeface="+mn-ea"/>
                <a:cs typeface="+mn-cs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5491-BB56-4043-A87B-5AFAEC22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&amp; Results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53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4D90-6573-47F2-857B-6146DAAC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>
                <a:solidFill>
                  <a:srgbClr val="232D37"/>
                </a:solidFill>
                <a:latin typeface="Book Antiqua"/>
              </a:rPr>
              <a:t>Introduction / Background</a:t>
            </a:r>
          </a:p>
        </p:txBody>
      </p:sp>
      <p:sp>
        <p:nvSpPr>
          <p:cNvPr id="3" name="Intro card 1 bg"/>
          <p:cNvSpPr/>
          <p:nvPr/>
        </p:nvSpPr>
        <p:spPr>
          <a:xfrm>
            <a:off x="612648" y="1600200"/>
            <a:ext cx="5349240" cy="22402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ntro card 1 text"/>
          <p:cNvSpPr txBox="1"/>
          <p:nvPr/>
        </p:nvSpPr>
        <p:spPr>
          <a:xfrm>
            <a:off x="841248" y="1783080"/>
            <a:ext cx="489204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42C38"/>
                </a:solidFill>
                <a:latin typeface="Book Antiqua"/>
              </a:rPr>
              <a:t>Definition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32D37"/>
                </a:solidFill>
                <a:latin typeface="Book Antiqua"/>
              </a:rPr>
              <a:t>A Food Delivery System is a database-driven application that connects customers, restaurants and delivery partners and manages the full order cycle: menu, ordering, payment and delivery.</a:t>
            </a:r>
          </a:p>
        </p:txBody>
      </p:sp>
      <p:sp>
        <p:nvSpPr>
          <p:cNvPr id="5" name="Intro card 2 bg"/>
          <p:cNvSpPr/>
          <p:nvPr/>
        </p:nvSpPr>
        <p:spPr>
          <a:xfrm>
            <a:off x="6236207" y="1600200"/>
            <a:ext cx="5349240" cy="22402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ntro card 2 text"/>
          <p:cNvSpPr txBox="1"/>
          <p:nvPr/>
        </p:nvSpPr>
        <p:spPr>
          <a:xfrm>
            <a:off x="6464807" y="1783080"/>
            <a:ext cx="489204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42C38"/>
                </a:solidFill>
                <a:latin typeface="Book Antiqua"/>
              </a:rPr>
              <a:t>Overview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32D37"/>
                </a:solidFill>
                <a:latin typeface="Book Antiqua"/>
              </a:rPr>
              <a:t>This project stores restaurants, menus, customers, orders, payments and delivery partners in a MySQL database. A Flask backend and a web frontend let users place and track orders.</a:t>
            </a:r>
          </a:p>
        </p:txBody>
      </p:sp>
      <p:sp>
        <p:nvSpPr>
          <p:cNvPr id="7" name="Intro card 3 bg"/>
          <p:cNvSpPr/>
          <p:nvPr/>
        </p:nvSpPr>
        <p:spPr>
          <a:xfrm>
            <a:off x="612648" y="4114800"/>
            <a:ext cx="5349240" cy="22402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ntro card 3 text"/>
          <p:cNvSpPr txBox="1"/>
          <p:nvPr/>
        </p:nvSpPr>
        <p:spPr>
          <a:xfrm>
            <a:off x="841248" y="4297680"/>
            <a:ext cx="489204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42C38"/>
                </a:solidFill>
                <a:latin typeface="Book Antiqua"/>
              </a:rPr>
              <a:t>Evolution / Background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32D37"/>
                </a:solidFill>
                <a:latin typeface="Book Antiqua"/>
              </a:rPr>
              <a:t>Food ordering moved from phone calls and paper bills to app-based platforms such as Zomato and Swiggy, which rely on relational databases to keep orders and payments consistent.</a:t>
            </a:r>
          </a:p>
        </p:txBody>
      </p:sp>
      <p:sp>
        <p:nvSpPr>
          <p:cNvPr id="9" name="Intro card 4 bg"/>
          <p:cNvSpPr/>
          <p:nvPr/>
        </p:nvSpPr>
        <p:spPr>
          <a:xfrm>
            <a:off x="6236207" y="4114800"/>
            <a:ext cx="5349240" cy="22402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ntro card 4 text"/>
          <p:cNvSpPr txBox="1"/>
          <p:nvPr/>
        </p:nvSpPr>
        <p:spPr>
          <a:xfrm>
            <a:off x="6464807" y="4297680"/>
            <a:ext cx="4892040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42C38"/>
                </a:solidFill>
                <a:latin typeface="Book Antiqua"/>
              </a:rPr>
              <a:t>Core Motivation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32D37"/>
                </a:solidFill>
                <a:latin typeface="Book Antiqua"/>
              </a:rPr>
              <a:t>Online food delivery is a daily-use service in cities like Pune. A well-designed database avoids duplicate data, keeps orders and payments accurate and makes reporting easy.</a:t>
            </a:r>
          </a:p>
        </p:txBody>
      </p:sp>
    </p:spTree>
    <p:extLst>
      <p:ext uri="{BB962C8B-B14F-4D97-AF65-F5344CB8AC3E}">
        <p14:creationId xmlns:p14="http://schemas.microsoft.com/office/powerpoint/2010/main" val="19833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E2CD-E867-43E3-B74F-DB92584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32D37"/>
                </a:solidFill>
                <a:latin typeface="Book Antiqua"/>
              </a:rPr>
              <a:t>Problem Definition &amp; Objectives</a:t>
            </a:r>
          </a:p>
        </p:txBody>
      </p:sp>
      <p:sp>
        <p:nvSpPr>
          <p:cNvPr id="3" name="Problem card bg"/>
          <p:cNvSpPr/>
          <p:nvPr/>
        </p:nvSpPr>
        <p:spPr>
          <a:xfrm>
            <a:off x="612648" y="1600200"/>
            <a:ext cx="4572000" cy="42062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blem card text"/>
          <p:cNvSpPr txBox="1"/>
          <p:nvPr/>
        </p:nvSpPr>
        <p:spPr>
          <a:xfrm>
            <a:off x="841248" y="1783080"/>
            <a:ext cx="4114800" cy="3840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42C38"/>
                </a:solidFill>
                <a:latin typeface="Book Antiqua"/>
              </a:rPr>
              <a:t>Problem Statement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Small restaurants often take orders by phone or on paper. This causes: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Order and billing mistakes</a:t>
            </a:r>
          </a:p>
          <a:p>
            <a:pPr marL="228600" indent="-22860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No record of customers, payments or deliveries</a:t>
            </a:r>
          </a:p>
          <a:p>
            <a:pPr marL="228600" indent="-228600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Delivery partners assigned without tracking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2D37"/>
                </a:solidFill>
                <a:latin typeface="Book Antiqua"/>
              </a:rPr>
              <a:t>Need: one central database that handles the whole order cycle.</a:t>
            </a:r>
          </a:p>
        </p:txBody>
      </p:sp>
      <p:sp>
        <p:nvSpPr>
          <p:cNvPr id="5" name="Objectives card bg"/>
          <p:cNvSpPr/>
          <p:nvPr/>
        </p:nvSpPr>
        <p:spPr>
          <a:xfrm>
            <a:off x="5458968" y="1600200"/>
            <a:ext cx="6126480" cy="42062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bjectives card text"/>
          <p:cNvSpPr txBox="1"/>
          <p:nvPr/>
        </p:nvSpPr>
        <p:spPr>
          <a:xfrm>
            <a:off x="5687568" y="1783080"/>
            <a:ext cx="5669280" cy="3840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42C38"/>
                </a:solidFill>
                <a:latin typeface="Book Antiqua"/>
              </a:rPr>
              <a:t>Objectives</a:t>
            </a:r>
          </a:p>
          <a:p>
            <a:pPr marL="228600" indent="-22860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Design an ER diagram for restaurants, menu, customers, orders, payments and delivery partners</a:t>
            </a:r>
          </a:p>
          <a:p>
            <a:pPr marL="228600" indent="-22860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Convert it into a normalized relational schema in MySQL</a:t>
            </a:r>
          </a:p>
          <a:p>
            <a:pPr marL="228600" indent="-22860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Protect data integrity with keys and constraints</a:t>
            </a:r>
          </a:p>
          <a:p>
            <a:pPr marL="228600" indent="-22860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Place orders with automatic total calculation and delivery-partner assignment</a:t>
            </a:r>
          </a:p>
          <a:p>
            <a:pPr marL="228600" indent="-22860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Provide a web interface and reports (revenue, deliveries)</a:t>
            </a:r>
          </a:p>
        </p:txBody>
      </p:sp>
    </p:spTree>
    <p:extLst>
      <p:ext uri="{BB962C8B-B14F-4D97-AF65-F5344CB8AC3E}">
        <p14:creationId xmlns:p14="http://schemas.microsoft.com/office/powerpoint/2010/main" val="1817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A29-E4E0-430B-B67A-F1E02C08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32D37"/>
                </a:solidFill>
                <a:latin typeface="Book Antiqua"/>
              </a:rPr>
              <a:t>Literature Survey</a:t>
            </a:r>
          </a:p>
        </p:txBody>
      </p:sp>
      <p:graphicFrame>
        <p:nvGraphicFramePr>
          <p:cNvPr id="3" name="Literature table"/>
          <p:cNvGraphicFramePr>
            <a:graphicFrameLocks noGrp="1"/>
          </p:cNvGraphicFramePr>
          <p:nvPr/>
        </p:nvGraphicFramePr>
        <p:xfrm>
          <a:off x="612648" y="1600200"/>
          <a:ext cx="10972800" cy="3886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Book Antiqua"/>
                        </a:rPr>
                        <a:t>Approach / Source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Book Antiqua"/>
                        </a:rPr>
                        <a:t>What it offers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Book Antiqua"/>
                        </a:rPr>
                        <a:t>Gap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32D37"/>
                          </a:solidFill>
                          <a:latin typeface="Book Antiqua"/>
                        </a:rPr>
                        <a:t>Manual / phone ordering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D37"/>
                          </a:solidFill>
                          <a:latin typeface="Book Antiqua"/>
                        </a:rPr>
                        <a:t>Simple, needs no technology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D37"/>
                          </a:solidFill>
                          <a:latin typeface="Book Antiqua"/>
                        </a:rPr>
                        <a:t>Errors, no records, no tracking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32D37"/>
                          </a:solidFill>
                          <a:latin typeface="Book Antiqua"/>
                        </a:rPr>
                        <a:t>Large platforms (Zomato, Swiggy, Uber Eats)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D37"/>
                          </a:solidFill>
                          <a:latin typeface="Book Antiqua"/>
                        </a:rPr>
                        <a:t>Wide choice, online payment, live tracking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D37"/>
                          </a:solidFill>
                          <a:latin typeface="Book Antiqua"/>
                        </a:rPr>
                        <a:t>Large and proprietary; not suited for learning or small local use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32D37"/>
                          </a:solidFill>
                          <a:latin typeface="Book Antiqua"/>
                        </a:rPr>
                        <a:t>Relational model [1] and ER model [2]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D37"/>
                          </a:solidFill>
                          <a:latin typeface="Book Antiqua"/>
                        </a:rPr>
                        <a:t>Tables, keys and normalization keep data consistent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D37"/>
                          </a:solidFill>
                          <a:latin typeface="Book Antiqua"/>
                        </a:rPr>
                        <a:t>Needs careful schema design for each domain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32D37"/>
                          </a:solidFill>
                          <a:latin typeface="Book Antiqua"/>
                        </a:rPr>
                        <a:t>This project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D37"/>
                          </a:solidFill>
                          <a:latin typeface="Book Antiqua"/>
                        </a:rPr>
                        <a:t>Open-source MySQL + Flask, normalized schema, full order cycle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D37"/>
                          </a:solidFill>
                          <a:latin typeface="Book Antiqua"/>
                        </a:rPr>
                        <a:t>Core features only (no GPS or payment gateway)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Literature note"/>
          <p:cNvSpPr txBox="1"/>
          <p:nvPr/>
        </p:nvSpPr>
        <p:spPr>
          <a:xfrm>
            <a:off x="612648" y="5669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2D37"/>
                </a:solidFill>
                <a:latin typeface="Book Antiqua"/>
              </a:rPr>
              <a:t>Theory used: </a:t>
            </a:r>
            <a:r>
              <a:rPr sz="1500" b="0" i="0">
                <a:solidFill>
                  <a:srgbClr val="232D37"/>
                </a:solidFill>
                <a:latin typeface="Book Antiqua"/>
              </a:rPr>
              <a:t>relational model [1], entity-relationship model [2] and standard DBMS textbooks [3], [4].</a:t>
            </a:r>
          </a:p>
        </p:txBody>
      </p:sp>
    </p:spTree>
    <p:extLst>
      <p:ext uri="{BB962C8B-B14F-4D97-AF65-F5344CB8AC3E}">
        <p14:creationId xmlns:p14="http://schemas.microsoft.com/office/powerpoint/2010/main" val="19303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77F7-0088-48A7-B16F-B6CDD750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32D37"/>
                </a:solidFill>
                <a:latin typeface="Book Antiqua"/>
              </a:rPr>
              <a:t>Feasibility Study</a:t>
            </a:r>
          </a:p>
        </p:txBody>
      </p:sp>
      <p:sp>
        <p:nvSpPr>
          <p:cNvPr id="3" name="Feasibility card 1 bg"/>
          <p:cNvSpPr/>
          <p:nvPr/>
        </p:nvSpPr>
        <p:spPr>
          <a:xfrm>
            <a:off x="612648" y="1600200"/>
            <a:ext cx="3474720" cy="40233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easibility card 1 text"/>
          <p:cNvSpPr txBox="1"/>
          <p:nvPr/>
        </p:nvSpPr>
        <p:spPr>
          <a:xfrm>
            <a:off x="841248" y="1783080"/>
            <a:ext cx="30175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C42C38"/>
                </a:solidFill>
                <a:latin typeface="Book Antiqua"/>
              </a:rPr>
              <a:t>Technical Feasibility</a:t>
            </a:r>
          </a:p>
          <a:p>
            <a:pPr marL="228600" indent="-228600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Book Antiqua"/>
              </a:rPr>
              <a:t>MySQL 8, Python Flask and plain HTML/CSS/JS</a:t>
            </a:r>
          </a:p>
          <a:p>
            <a:pPr marL="228600" indent="-228600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Book Antiqua"/>
              </a:rPr>
              <a:t>Runs on an ordinary laptop</a:t>
            </a:r>
          </a:p>
          <a:p>
            <a:pPr marL="228600" indent="-228600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Book Antiqua"/>
              </a:rPr>
              <a:t>Uses standard SQL: joins, constraints, transactions</a:t>
            </a:r>
          </a:p>
          <a:p>
            <a:pPr marL="228600" indent="-228600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Book Antiqua"/>
              </a:rPr>
              <a:t>Tools are mature and well documented</a:t>
            </a:r>
          </a:p>
        </p:txBody>
      </p:sp>
      <p:sp>
        <p:nvSpPr>
          <p:cNvPr id="5" name="Feasibility card 2 bg"/>
          <p:cNvSpPr/>
          <p:nvPr/>
        </p:nvSpPr>
        <p:spPr>
          <a:xfrm>
            <a:off x="4361688" y="1600200"/>
            <a:ext cx="3474720" cy="40233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easibility card 2 text"/>
          <p:cNvSpPr txBox="1"/>
          <p:nvPr/>
        </p:nvSpPr>
        <p:spPr>
          <a:xfrm>
            <a:off x="4590288" y="1783080"/>
            <a:ext cx="30175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C42C38"/>
                </a:solidFill>
                <a:latin typeface="Book Antiqua"/>
              </a:rPr>
              <a:t>Financial / Business</a:t>
            </a:r>
          </a:p>
          <a:p>
            <a:pPr marL="228600" indent="-228600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Book Antiqua"/>
              </a:rPr>
              <a:t>All tools are open source, so no licence cost</a:t>
            </a:r>
          </a:p>
          <a:p>
            <a:pPr marL="228600" indent="-228600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Book Antiqua"/>
              </a:rPr>
              <a:t>Only cost is development time</a:t>
            </a:r>
          </a:p>
          <a:p>
            <a:pPr marL="228600" indent="-228600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Book Antiqua"/>
              </a:rPr>
              <a:t>Suits small restaurants and cloud kitchens</a:t>
            </a:r>
          </a:p>
          <a:p>
            <a:pPr marL="228600" indent="-228600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Book Antiqua"/>
              </a:rPr>
              <a:t>Revenue reports support business decisions</a:t>
            </a:r>
          </a:p>
        </p:txBody>
      </p:sp>
      <p:sp>
        <p:nvSpPr>
          <p:cNvPr id="7" name="Feasibility card 3 bg"/>
          <p:cNvSpPr/>
          <p:nvPr/>
        </p:nvSpPr>
        <p:spPr>
          <a:xfrm>
            <a:off x="8110727" y="1600200"/>
            <a:ext cx="3474720" cy="40233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easibility card 3 text"/>
          <p:cNvSpPr txBox="1"/>
          <p:nvPr/>
        </p:nvSpPr>
        <p:spPr>
          <a:xfrm>
            <a:off x="8339327" y="1783080"/>
            <a:ext cx="30175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C42C38"/>
                </a:solidFill>
                <a:latin typeface="Book Antiqua"/>
              </a:rPr>
              <a:t>Operational Feasibility</a:t>
            </a:r>
          </a:p>
          <a:p>
            <a:pPr marL="228600" indent="-228600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Book Antiqua"/>
              </a:rPr>
              <a:t>Simple screens for ordering and tracking</a:t>
            </a:r>
          </a:p>
          <a:p>
            <a:pPr marL="228600" indent="-228600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Book Antiqua"/>
              </a:rPr>
              <a:t>Delivery partner is assigned automatically</a:t>
            </a:r>
          </a:p>
          <a:p>
            <a:pPr marL="228600" indent="-228600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Book Antiqua"/>
              </a:rPr>
              <a:t>Status updates keep everyone informed</a:t>
            </a:r>
          </a:p>
          <a:p>
            <a:pPr marL="228600" indent="-228600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Book Antiqua"/>
              </a:rPr>
              <a:t>No special training needed</a:t>
            </a:r>
          </a:p>
        </p:txBody>
      </p:sp>
    </p:spTree>
    <p:extLst>
      <p:ext uri="{BB962C8B-B14F-4D97-AF65-F5344CB8AC3E}">
        <p14:creationId xmlns:p14="http://schemas.microsoft.com/office/powerpoint/2010/main" val="11519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8AD-B1BC-4643-B1DF-6F3D0D7D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>
                <a:solidFill>
                  <a:srgbClr val="232D37"/>
                </a:solidFill>
                <a:latin typeface="Book Antiqua"/>
              </a:rPr>
              <a:t>System Design &amp; Architecture</a:t>
            </a:r>
          </a:p>
        </p:txBody>
      </p:sp>
      <p:sp>
        <p:nvSpPr>
          <p:cNvPr id="3" name="Tier 1 bg"/>
          <p:cNvSpPr/>
          <p:nvPr/>
        </p:nvSpPr>
        <p:spPr>
          <a:xfrm>
            <a:off x="612648" y="1600200"/>
            <a:ext cx="2926080" cy="210312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er 1 text"/>
          <p:cNvSpPr txBox="1"/>
          <p:nvPr/>
        </p:nvSpPr>
        <p:spPr>
          <a:xfrm>
            <a:off x="795528" y="1764792"/>
            <a:ext cx="2560320" cy="1828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C42C38"/>
                </a:solidFill>
                <a:latin typeface="Book Antiqua"/>
              </a:rPr>
              <a:t>Presentation Layer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32D37"/>
                </a:solidFill>
                <a:latin typeface="Book Antiqua"/>
              </a:rPr>
              <a:t>HTML, CSS, JavaScript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2D37"/>
                </a:solidFill>
                <a:latin typeface="Book Antiqua"/>
              </a:rPr>
              <a:t>Order Food, Orders, Customers, Dashboard</a:t>
            </a:r>
          </a:p>
        </p:txBody>
      </p:sp>
      <p:sp>
        <p:nvSpPr>
          <p:cNvPr id="5" name="Tier 2 bg"/>
          <p:cNvSpPr/>
          <p:nvPr/>
        </p:nvSpPr>
        <p:spPr>
          <a:xfrm>
            <a:off x="4636008" y="1600200"/>
            <a:ext cx="2926080" cy="210312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ier 2 text"/>
          <p:cNvSpPr txBox="1"/>
          <p:nvPr/>
        </p:nvSpPr>
        <p:spPr>
          <a:xfrm>
            <a:off x="4818888" y="1764792"/>
            <a:ext cx="2560320" cy="1828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C42C38"/>
                </a:solidFill>
                <a:latin typeface="Book Antiqua"/>
              </a:rPr>
              <a:t>Application Layer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32D37"/>
                </a:solidFill>
                <a:latin typeface="Book Antiqua"/>
              </a:rPr>
              <a:t>Python Flask REST API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2D37"/>
                </a:solidFill>
                <a:latin typeface="Book Antiqua"/>
              </a:rPr>
              <a:t>Validation, total calculation, delivery assignment</a:t>
            </a:r>
          </a:p>
        </p:txBody>
      </p:sp>
      <p:sp>
        <p:nvSpPr>
          <p:cNvPr id="7" name="Tier 3 bg"/>
          <p:cNvSpPr/>
          <p:nvPr/>
        </p:nvSpPr>
        <p:spPr>
          <a:xfrm>
            <a:off x="8659368" y="1600200"/>
            <a:ext cx="2926080" cy="210312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er 3 text"/>
          <p:cNvSpPr txBox="1"/>
          <p:nvPr/>
        </p:nvSpPr>
        <p:spPr>
          <a:xfrm>
            <a:off x="8842248" y="1764792"/>
            <a:ext cx="2560320" cy="1828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C42C38"/>
                </a:solidFill>
                <a:latin typeface="Book Antiqua"/>
              </a:rPr>
              <a:t>Data Layer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32D37"/>
                </a:solidFill>
                <a:latin typeface="Book Antiqua"/>
              </a:rPr>
              <a:t>MySQL 8 database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2D37"/>
                </a:solidFill>
                <a:latin typeface="Book Antiqua"/>
              </a:rPr>
              <a:t>7 tables with keys, constraints, transactions</a:t>
            </a:r>
          </a:p>
        </p:txBody>
      </p:sp>
      <p:sp>
        <p:nvSpPr>
          <p:cNvPr id="9" name="Arrow 1"/>
          <p:cNvSpPr/>
          <p:nvPr/>
        </p:nvSpPr>
        <p:spPr>
          <a:xfrm>
            <a:off x="3721608" y="2258568"/>
            <a:ext cx="731519" cy="365760"/>
          </a:xfrm>
          <a:prstGeom prst="leftRightArrow">
            <a:avLst/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row label 1"/>
          <p:cNvSpPr txBox="1"/>
          <p:nvPr/>
        </p:nvSpPr>
        <p:spPr>
          <a:xfrm>
            <a:off x="3538728" y="2679191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32D37"/>
                </a:solidFill>
                <a:latin typeface="Book Antiqua"/>
              </a:rPr>
              <a:t>HTTP + JSON</a:t>
            </a:r>
          </a:p>
        </p:txBody>
      </p:sp>
      <p:sp>
        <p:nvSpPr>
          <p:cNvPr id="11" name="Arrow 2"/>
          <p:cNvSpPr/>
          <p:nvPr/>
        </p:nvSpPr>
        <p:spPr>
          <a:xfrm>
            <a:off x="7744967" y="2258568"/>
            <a:ext cx="731519" cy="365760"/>
          </a:xfrm>
          <a:prstGeom prst="leftRightArrow">
            <a:avLst/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row label 2"/>
          <p:cNvSpPr txBox="1"/>
          <p:nvPr/>
        </p:nvSpPr>
        <p:spPr>
          <a:xfrm>
            <a:off x="7562088" y="2679191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32D37"/>
                </a:solidFill>
                <a:latin typeface="Book Antiqua"/>
              </a:rPr>
              <a:t>SQL queries</a:t>
            </a:r>
          </a:p>
        </p:txBody>
      </p:sp>
      <p:sp>
        <p:nvSpPr>
          <p:cNvPr id="13" name="Flow heading"/>
          <p:cNvSpPr txBox="1"/>
          <p:nvPr/>
        </p:nvSpPr>
        <p:spPr>
          <a:xfrm>
            <a:off x="612648" y="3931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2D37"/>
                </a:solidFill>
                <a:latin typeface="Book Antiqua"/>
              </a:rPr>
              <a:t>Order placement flow</a:t>
            </a:r>
          </a:p>
        </p:txBody>
      </p:sp>
      <p:sp>
        <p:nvSpPr>
          <p:cNvPr id="14" name="Step 1 bg"/>
          <p:cNvSpPr/>
          <p:nvPr/>
        </p:nvSpPr>
        <p:spPr>
          <a:xfrm>
            <a:off x="612648" y="4434840"/>
            <a:ext cx="2011680" cy="17830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ep 1 text"/>
          <p:cNvSpPr txBox="1"/>
          <p:nvPr/>
        </p:nvSpPr>
        <p:spPr>
          <a:xfrm>
            <a:off x="749808" y="4526280"/>
            <a:ext cx="17373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42C38"/>
                </a:solidFill>
                <a:latin typeface="Book Antiqua"/>
              </a:rPr>
              <a:t>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2D37"/>
                </a:solidFill>
                <a:latin typeface="Book Antiqua"/>
              </a:rPr>
              <a:t>Select customer, restaurant and items</a:t>
            </a:r>
          </a:p>
        </p:txBody>
      </p:sp>
      <p:sp>
        <p:nvSpPr>
          <p:cNvPr id="16" name="Step 2 bg"/>
          <p:cNvSpPr/>
          <p:nvPr/>
        </p:nvSpPr>
        <p:spPr>
          <a:xfrm>
            <a:off x="2852928" y="4434840"/>
            <a:ext cx="2011680" cy="17830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tep 2 text"/>
          <p:cNvSpPr txBox="1"/>
          <p:nvPr/>
        </p:nvSpPr>
        <p:spPr>
          <a:xfrm>
            <a:off x="2990088" y="4526280"/>
            <a:ext cx="17373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42C38"/>
                </a:solidFill>
                <a:latin typeface="Book Antiqua"/>
              </a:rPr>
              <a:t>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2D37"/>
                </a:solidFill>
                <a:latin typeface="Book Antiqua"/>
              </a:rPr>
              <a:t>Server calculates total from database prices</a:t>
            </a:r>
          </a:p>
        </p:txBody>
      </p:sp>
      <p:sp>
        <p:nvSpPr>
          <p:cNvPr id="18" name="Step 3 bg"/>
          <p:cNvSpPr/>
          <p:nvPr/>
        </p:nvSpPr>
        <p:spPr>
          <a:xfrm>
            <a:off x="5093208" y="4434840"/>
            <a:ext cx="2011680" cy="17830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tep 3 text"/>
          <p:cNvSpPr txBox="1"/>
          <p:nvPr/>
        </p:nvSpPr>
        <p:spPr>
          <a:xfrm>
            <a:off x="5230368" y="4526280"/>
            <a:ext cx="17373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42C38"/>
                </a:solidFill>
                <a:latin typeface="Book Antiqua"/>
              </a:rPr>
              <a:t>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2D37"/>
                </a:solidFill>
                <a:latin typeface="Book Antiqua"/>
              </a:rPr>
              <a:t>Delivery partner with fewest active orders is assigned</a:t>
            </a:r>
          </a:p>
        </p:txBody>
      </p:sp>
      <p:sp>
        <p:nvSpPr>
          <p:cNvPr id="20" name="Step 4 bg"/>
          <p:cNvSpPr/>
          <p:nvPr/>
        </p:nvSpPr>
        <p:spPr>
          <a:xfrm>
            <a:off x="7333488" y="4434840"/>
            <a:ext cx="2011680" cy="17830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tep 4 text"/>
          <p:cNvSpPr txBox="1"/>
          <p:nvPr/>
        </p:nvSpPr>
        <p:spPr>
          <a:xfrm>
            <a:off x="7470648" y="4526280"/>
            <a:ext cx="17373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42C38"/>
                </a:solidFill>
                <a:latin typeface="Book Antiqua"/>
              </a:rPr>
              <a:t>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2D37"/>
                </a:solidFill>
                <a:latin typeface="Book Antiqua"/>
              </a:rPr>
              <a:t>Order, items and payment saved in one transaction</a:t>
            </a:r>
          </a:p>
        </p:txBody>
      </p:sp>
      <p:sp>
        <p:nvSpPr>
          <p:cNvPr id="22" name="Step 5 bg"/>
          <p:cNvSpPr/>
          <p:nvPr/>
        </p:nvSpPr>
        <p:spPr>
          <a:xfrm>
            <a:off x="9573768" y="4434840"/>
            <a:ext cx="2011680" cy="17830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tep 5 text"/>
          <p:cNvSpPr txBox="1"/>
          <p:nvPr/>
        </p:nvSpPr>
        <p:spPr>
          <a:xfrm>
            <a:off x="9710928" y="4526280"/>
            <a:ext cx="17373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42C38"/>
                </a:solidFill>
                <a:latin typeface="Book Antiqua"/>
              </a:rPr>
              <a:t>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2D37"/>
                </a:solidFill>
                <a:latin typeface="Book Antiqua"/>
              </a:rPr>
              <a:t>Status tracked: Placed to Delivered</a:t>
            </a:r>
          </a:p>
        </p:txBody>
      </p:sp>
    </p:spTree>
    <p:extLst>
      <p:ext uri="{BB962C8B-B14F-4D97-AF65-F5344CB8AC3E}">
        <p14:creationId xmlns:p14="http://schemas.microsoft.com/office/powerpoint/2010/main" val="33273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>
                <a:solidFill>
                  <a:srgbClr val="232D37"/>
                </a:solidFill>
                <a:latin typeface="Book Antiqua"/>
              </a:rPr>
              <a:t>Database Design &amp; ER Diagram</a:t>
            </a:r>
          </a:p>
        </p:txBody>
      </p:sp>
      <p:pic>
        <p:nvPicPr>
          <p:cNvPr id="3" name="ER diagram" descr="ER diagram of the Food Delivery System with restaurant, menu, customer, order, payment and delivery partner entiti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00200"/>
            <a:ext cx="6949440" cy="4514850"/>
          </a:xfrm>
          <a:prstGeom prst="rect">
            <a:avLst/>
          </a:prstGeom>
        </p:spPr>
      </p:pic>
      <p:sp>
        <p:nvSpPr>
          <p:cNvPr id="4" name="Relationship list"/>
          <p:cNvSpPr txBox="1"/>
          <p:nvPr/>
        </p:nvSpPr>
        <p:spPr>
          <a:xfrm>
            <a:off x="7882127" y="1600200"/>
            <a:ext cx="37033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C42C38"/>
                </a:solidFill>
                <a:latin typeface="Book Antiqua"/>
              </a:rPr>
              <a:t>Entities and relationships</a:t>
            </a:r>
          </a:p>
          <a:p>
            <a:pPr marL="228600" indent="-22860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232D37"/>
                </a:solidFill>
                <a:latin typeface="Book Antiqua"/>
              </a:rPr>
              <a:t>Restaurant 1 : M Menu</a:t>
            </a:r>
            <a:r>
              <a:rPr sz="1500" b="0" i="0">
                <a:solidFill>
                  <a:srgbClr val="232D37"/>
                </a:solidFill>
                <a:latin typeface="Book Antiqua"/>
              </a:rPr>
              <a:t>  (has)</a:t>
            </a:r>
          </a:p>
          <a:p>
            <a:pPr marL="228600" indent="-22860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232D37"/>
                </a:solidFill>
                <a:latin typeface="Book Antiqua"/>
              </a:rPr>
              <a:t>Customer 1 : M Order</a:t>
            </a:r>
            <a:r>
              <a:rPr sz="1500" b="0" i="0">
                <a:solidFill>
                  <a:srgbClr val="232D37"/>
                </a:solidFill>
                <a:latin typeface="Book Antiqua"/>
              </a:rPr>
              <a:t>  (places)</a:t>
            </a:r>
          </a:p>
          <a:p>
            <a:pPr marL="228600" indent="-22860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232D37"/>
                </a:solidFill>
                <a:latin typeface="Book Antiqua"/>
              </a:rPr>
              <a:t>Order 1 : 1 Payment</a:t>
            </a:r>
            <a:r>
              <a:rPr sz="1500" b="0" i="0">
                <a:solidFill>
                  <a:srgbClr val="232D37"/>
                </a:solidFill>
                <a:latin typeface="Book Antiqua"/>
              </a:rPr>
              <a:t>  (has)</a:t>
            </a:r>
          </a:p>
          <a:p>
            <a:pPr marL="228600" indent="-22860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232D37"/>
                </a:solidFill>
                <a:latin typeface="Book Antiqua"/>
              </a:rPr>
              <a:t>Delivery Partner 1 : M Order</a:t>
            </a:r>
            <a:r>
              <a:rPr sz="1500" b="0" i="0">
                <a:solidFill>
                  <a:srgbClr val="232D37"/>
                </a:solidFill>
                <a:latin typeface="Book Antiqua"/>
              </a:rPr>
              <a:t>  (delivers)</a:t>
            </a:r>
          </a:p>
          <a:p>
            <a:pPr marL="228600" indent="-22860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232D37"/>
                </a:solidFill>
                <a:latin typeface="Book Antiqua"/>
              </a:rPr>
              <a:t>Customer M : N Restaurant</a:t>
            </a:r>
            <a:r>
              <a:rPr sz="1500" b="0" i="0">
                <a:solidFill>
                  <a:srgbClr val="232D37"/>
                </a:solidFill>
                <a:latin typeface="Book Antiqua"/>
              </a:rPr>
              <a:t>  (order from)</a:t>
            </a:r>
          </a:p>
          <a:p>
            <a:pPr marL="228600" indent="-22860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1" i="0">
                <a:solidFill>
                  <a:srgbClr val="232D37"/>
                </a:solidFill>
                <a:latin typeface="Book Antiqua"/>
              </a:rPr>
              <a:t>Order M : N Menu</a:t>
            </a:r>
            <a:r>
              <a:rPr sz="1500" b="0" i="0">
                <a:solidFill>
                  <a:srgbClr val="232D37"/>
                </a:solidFill>
                <a:latin typeface="Book Antiqua"/>
              </a:rPr>
              <a:t>  (contains)</a:t>
            </a:r>
          </a:p>
        </p:txBody>
      </p:sp>
      <p:sp>
        <p:nvSpPr>
          <p:cNvPr id="5" name="ER note bg"/>
          <p:cNvSpPr/>
          <p:nvPr/>
        </p:nvSpPr>
        <p:spPr>
          <a:xfrm>
            <a:off x="7882127" y="4892040"/>
            <a:ext cx="3703320" cy="12344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ER note"/>
          <p:cNvSpPr txBox="1"/>
          <p:nvPr/>
        </p:nvSpPr>
        <p:spPr>
          <a:xfrm>
            <a:off x="8019288" y="4983480"/>
            <a:ext cx="3429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2D37"/>
                </a:solidFill>
                <a:latin typeface="Book Antiqua"/>
              </a:rPr>
              <a:t>The two M : N links become tables in MySQL: orders (order from) and order_items (contains).</a:t>
            </a:r>
          </a:p>
        </p:txBody>
      </p:sp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>
                <a:solidFill>
                  <a:srgbClr val="232D37"/>
                </a:solidFill>
                <a:latin typeface="Book Antiqua"/>
              </a:rPr>
              <a:t>Database Design: Relational Schema</a:t>
            </a:r>
          </a:p>
        </p:txBody>
      </p:sp>
      <p:graphicFrame>
        <p:nvGraphicFramePr>
          <p:cNvPr id="3" name="Schema table"/>
          <p:cNvGraphicFramePr>
            <a:graphicFrameLocks noGrp="1"/>
          </p:cNvGraphicFramePr>
          <p:nvPr/>
        </p:nvGraphicFramePr>
        <p:xfrm>
          <a:off x="612648" y="1600200"/>
          <a:ext cx="10972800" cy="35112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Book Antiqua"/>
                        </a:rPr>
                        <a:t>Table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Book Antiqua"/>
                        </a:rPr>
                        <a:t>Primary Key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Book Antiqua"/>
                        </a:rPr>
                        <a:t>Foreign Key(s)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Book Antiqua"/>
                        </a:rPr>
                        <a:t>Other attributes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D37"/>
                          </a:solidFill>
                          <a:latin typeface="Book Antiqua"/>
                        </a:rPr>
                        <a:t>restaurant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restaurant_id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-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name, address, contact_no, rating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D37"/>
                          </a:solidFill>
                          <a:latin typeface="Book Antiqua"/>
                        </a:rPr>
                        <a:t>menu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menu_id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restaurant_id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food_name, price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D37"/>
                          </a:solidFill>
                          <a:latin typeface="Book Antiqua"/>
                        </a:rPr>
                        <a:t>customer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customer_id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-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name, mobile_no, email, address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D37"/>
                          </a:solidFill>
                          <a:latin typeface="Book Antiqua"/>
                        </a:rPr>
                        <a:t>delivery_partner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delivery_id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-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name, mobile_no, vehicle_no, rating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D37"/>
                          </a:solidFill>
                          <a:latin typeface="Book Antiqua"/>
                        </a:rPr>
                        <a:t>orders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order_id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customer_id, restaurant_id, delivery_id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order_date, order_amount, order_status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D37"/>
                          </a:solidFill>
                          <a:latin typeface="Book Antiqua"/>
                        </a:rPr>
                        <a:t>order_items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(order_id, menu_id)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order_id, menu_id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quantity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D37"/>
                          </a:solidFill>
                          <a:latin typeface="Book Antiqua"/>
                        </a:rPr>
                        <a:t>payment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payment_id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order_id (unique)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payment_mode, payment_status, amount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Normalization note bg"/>
          <p:cNvSpPr/>
          <p:nvPr/>
        </p:nvSpPr>
        <p:spPr>
          <a:xfrm>
            <a:off x="612648" y="548640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ormalization note"/>
          <p:cNvSpPr txBox="1"/>
          <p:nvPr/>
        </p:nvSpPr>
        <p:spPr>
          <a:xfrm>
            <a:off x="795528" y="555955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D37"/>
                </a:solidFill>
                <a:latin typeface="Book Antiqua"/>
              </a:rPr>
              <a:t>Normalization: </a:t>
            </a:r>
            <a:r>
              <a:rPr sz="1400" b="0" i="0">
                <a:solidFill>
                  <a:srgbClr val="232D37"/>
                </a:solidFill>
                <a:latin typeface="Book Antiqua"/>
              </a:rPr>
              <a:t>tables are in 3NF and the M : N links are resolved with order_items. Totals (order_amount, amount) are stored as derived values for faster reporting.</a:t>
            </a:r>
          </a:p>
        </p:txBody>
      </p:sp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b="1">
                <a:solidFill>
                  <a:srgbClr val="232D37"/>
                </a:solidFill>
                <a:latin typeface="Book Antiqua"/>
              </a:rPr>
              <a:t>SQL Implementation &amp; Results (1/3)</a:t>
            </a:r>
          </a:p>
        </p:txBody>
      </p:sp>
      <p:sp>
        <p:nvSpPr>
          <p:cNvPr id="3" name="Code caption"/>
          <p:cNvSpPr txBox="1"/>
          <p:nvPr/>
        </p:nvSpPr>
        <p:spPr>
          <a:xfrm>
            <a:off x="612648" y="16002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D37"/>
                </a:solidFill>
                <a:latin typeface="Book Antiqua"/>
              </a:rPr>
              <a:t>Table creation: orders (excerpt)</a:t>
            </a:r>
          </a:p>
        </p:txBody>
      </p:sp>
      <p:sp>
        <p:nvSpPr>
          <p:cNvPr id="4" name="Orders DDL bg"/>
          <p:cNvSpPr/>
          <p:nvPr/>
        </p:nvSpPr>
        <p:spPr>
          <a:xfrm>
            <a:off x="612648" y="2011680"/>
            <a:ext cx="6400800" cy="3794760"/>
          </a:xfrm>
          <a:prstGeom prst="roundRect">
            <a:avLst>
              <a:gd name="adj" fmla="val 3000"/>
            </a:avLst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rders DDL text"/>
          <p:cNvSpPr txBox="1"/>
          <p:nvPr/>
        </p:nvSpPr>
        <p:spPr>
          <a:xfrm>
            <a:off x="795528" y="2148840"/>
            <a:ext cx="6035040" cy="3520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CREATE TABLE orders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order_id      INT PRIMARY KEY AUTO_INCREMENT,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customer_id   INT NOT NULL,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restaurant_id INT NOT NULL,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delivery_id   INT NULL,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order_date    DATETIME DEFAULT CURRENT_TIMESTAMP,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order_amount  DECIMAL(10,2) DEFAULT 0.00,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order_status  ENUM('Placed','Preparing',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  'Out for Delivery','Delivered','Cancelled'),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FOREIGN KEY (customer_id)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  REFERENCES customer(customer_id),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FOREIGN KEY (delivery_id)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  REFERENCES delivery_partner(delivery_id)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  ON DELETE SET NULL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);</a:t>
            </a:r>
          </a:p>
        </p:txBody>
      </p:sp>
      <p:sp>
        <p:nvSpPr>
          <p:cNvPr id="6" name="Constraints card bg"/>
          <p:cNvSpPr/>
          <p:nvPr/>
        </p:nvSpPr>
        <p:spPr>
          <a:xfrm>
            <a:off x="7287768" y="1600200"/>
            <a:ext cx="4297680" cy="42062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onstraints card text"/>
          <p:cNvSpPr txBox="1"/>
          <p:nvPr/>
        </p:nvSpPr>
        <p:spPr>
          <a:xfrm>
            <a:off x="7516367" y="1783080"/>
            <a:ext cx="3840480" cy="3840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42C38"/>
                </a:solidFill>
                <a:latin typeface="Book Antiqua"/>
              </a:rPr>
              <a:t>Constraints used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Book Antiqua"/>
              </a:rPr>
              <a:t>PRIMARY KEY with AUTO_INCREMENT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Book Antiqua"/>
              </a:rPr>
              <a:t>FOREIGN KEY with ON DELETE CASCADE / SET NULL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Book Antiqua"/>
              </a:rPr>
              <a:t>UNIQUE on mobile_no, email, vehicle_no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Book Antiqua"/>
              </a:rPr>
              <a:t>CHECK: rating 0 to 5, price &gt; 0, quantity &gt; 0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Book Antiqua"/>
              </a:rPr>
              <a:t>ENUM for order status and payment mode</a:t>
            </a:r>
          </a:p>
          <a:p>
            <a:pPr marL="228600" indent="-22860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Book Antiqua"/>
              </a:rPr>
              <a:t>DEFAULT CURRENT_TIMESTAMP for order date</a:t>
            </a:r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b="1">
                <a:solidFill>
                  <a:srgbClr val="232D37"/>
                </a:solidFill>
                <a:latin typeface="Book Antiqua"/>
              </a:rPr>
              <a:t>SQL Implementation &amp; Results (2/3)</a:t>
            </a:r>
          </a:p>
        </p:txBody>
      </p:sp>
      <p:sp>
        <p:nvSpPr>
          <p:cNvPr id="3" name="Join caption"/>
          <p:cNvSpPr txBox="1"/>
          <p:nvPr/>
        </p:nvSpPr>
        <p:spPr>
          <a:xfrm>
            <a:off x="612648" y="160020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D37"/>
                </a:solidFill>
                <a:latin typeface="Book Antiqua"/>
              </a:rPr>
              <a:t>JOIN: full order details</a:t>
            </a:r>
          </a:p>
        </p:txBody>
      </p:sp>
      <p:sp>
        <p:nvSpPr>
          <p:cNvPr id="4" name="Join query bg"/>
          <p:cNvSpPr/>
          <p:nvPr/>
        </p:nvSpPr>
        <p:spPr>
          <a:xfrm>
            <a:off x="612648" y="2011680"/>
            <a:ext cx="5669280" cy="2834640"/>
          </a:xfrm>
          <a:prstGeom prst="roundRect">
            <a:avLst>
              <a:gd name="adj" fmla="val 3000"/>
            </a:avLst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Join query text"/>
          <p:cNvSpPr txBox="1"/>
          <p:nvPr/>
        </p:nvSpPr>
        <p:spPr>
          <a:xfrm>
            <a:off x="795528" y="2148840"/>
            <a:ext cx="53035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SELECT o.order_id, c.name AS customer,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     r.restaurant_name,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     dp.name AS delivery_partner,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     o.order_amount, o.order_status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FROM orders 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JOIN customer 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ON o.customer_id = c.customer_id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JOIN restaurant 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ON o.restaurant_id = r.restaurant_id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LEFT JOIN delivery_partner dp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ON o.delivery_id = dp.delivery_id;</a:t>
            </a:r>
          </a:p>
        </p:txBody>
      </p:sp>
      <p:sp>
        <p:nvSpPr>
          <p:cNvPr id="6" name="Join note bg"/>
          <p:cNvSpPr/>
          <p:nvPr/>
        </p:nvSpPr>
        <p:spPr>
          <a:xfrm>
            <a:off x="612648" y="5120640"/>
            <a:ext cx="5669280" cy="9144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Join note"/>
          <p:cNvSpPr txBox="1"/>
          <p:nvPr/>
        </p:nvSpPr>
        <p:spPr>
          <a:xfrm>
            <a:off x="795528" y="5166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2D37"/>
                </a:solidFill>
                <a:latin typeface="Book Antiqua"/>
              </a:rPr>
              <a:t>Why LEFT JOIN? </a:t>
            </a:r>
            <a:r>
              <a:rPr sz="1500" b="0" i="0">
                <a:solidFill>
                  <a:srgbClr val="232D37"/>
                </a:solidFill>
                <a:latin typeface="Book Antiqua"/>
              </a:rPr>
              <a:t>Orders that have no delivery partner yet are still listed.</a:t>
            </a:r>
          </a:p>
        </p:txBody>
      </p:sp>
      <p:sp>
        <p:nvSpPr>
          <p:cNvPr id="8" name="Group caption"/>
          <p:cNvSpPr txBox="1"/>
          <p:nvPr/>
        </p:nvSpPr>
        <p:spPr>
          <a:xfrm>
            <a:off x="6556248" y="1600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D37"/>
                </a:solidFill>
                <a:latin typeface="Book Antiqua"/>
              </a:rPr>
              <a:t>GROUP BY: revenue per restaurant</a:t>
            </a:r>
          </a:p>
        </p:txBody>
      </p:sp>
      <p:sp>
        <p:nvSpPr>
          <p:cNvPr id="9" name="Group query bg"/>
          <p:cNvSpPr/>
          <p:nvPr/>
        </p:nvSpPr>
        <p:spPr>
          <a:xfrm>
            <a:off x="6556248" y="2011680"/>
            <a:ext cx="5029200" cy="1645920"/>
          </a:xfrm>
          <a:prstGeom prst="roundRect">
            <a:avLst>
              <a:gd name="adj" fmla="val 3000"/>
            </a:avLst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Group query text"/>
          <p:cNvSpPr txBox="1"/>
          <p:nvPr/>
        </p:nvSpPr>
        <p:spPr>
          <a:xfrm>
            <a:off x="6739128" y="2148840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SELECT r.restaurant_name,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     SUM(o.order_amount) AS revenue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FROM orders 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JOIN restaurant 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ON o.restaurant_id = r.restaurant_id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GROUP BY r.restaurant_name;</a:t>
            </a:r>
          </a:p>
        </p:txBody>
      </p:sp>
      <p:sp>
        <p:nvSpPr>
          <p:cNvPr id="11" name="Update caption"/>
          <p:cNvSpPr txBox="1"/>
          <p:nvPr/>
        </p:nvSpPr>
        <p:spPr>
          <a:xfrm>
            <a:off x="6556248" y="39319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D37"/>
                </a:solidFill>
                <a:latin typeface="Book Antiqua"/>
              </a:rPr>
              <a:t>UPDATE: order amount from items</a:t>
            </a:r>
          </a:p>
        </p:txBody>
      </p:sp>
      <p:sp>
        <p:nvSpPr>
          <p:cNvPr id="12" name="Update query bg"/>
          <p:cNvSpPr/>
          <p:nvPr/>
        </p:nvSpPr>
        <p:spPr>
          <a:xfrm>
            <a:off x="6556248" y="4343400"/>
            <a:ext cx="5029200" cy="1691640"/>
          </a:xfrm>
          <a:prstGeom prst="roundRect">
            <a:avLst>
              <a:gd name="adj" fmla="val 3000"/>
            </a:avLst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Update query text"/>
          <p:cNvSpPr txBox="1"/>
          <p:nvPr/>
        </p:nvSpPr>
        <p:spPr>
          <a:xfrm>
            <a:off x="6739128" y="4480560"/>
            <a:ext cx="46634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UPDATE orders o SET order_amount =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SELECT SUM(oi.quantity * m.price)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FROM order_items oi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JOIN menu m ON oi.menu_id = m.menu_id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  WHERE oi.order_id = o.order_id)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AED"/>
                </a:solidFill>
                <a:latin typeface="Courier New"/>
              </a:rPr>
              <a:t>WHERE o.order_id &gt; 0;</a:t>
            </a:r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b="1">
                <a:solidFill>
                  <a:srgbClr val="232D37"/>
                </a:solidFill>
                <a:latin typeface="Book Antiqua"/>
              </a:rPr>
              <a:t>SQL Implementation &amp; Results (3/3)</a:t>
            </a:r>
          </a:p>
        </p:txBody>
      </p:sp>
      <p:sp>
        <p:nvSpPr>
          <p:cNvPr id="3" name="Result caption 1"/>
          <p:cNvSpPr txBox="1"/>
          <p:nvPr/>
        </p:nvSpPr>
        <p:spPr>
          <a:xfrm>
            <a:off x="612648" y="1600200"/>
            <a:ext cx="7406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D37"/>
                </a:solidFill>
                <a:latin typeface="Book Antiqua"/>
              </a:rPr>
              <a:t>Order details (sample data)</a:t>
            </a:r>
          </a:p>
        </p:txBody>
      </p:sp>
      <p:graphicFrame>
        <p:nvGraphicFramePr>
          <p:cNvPr id="4" name="Order result table"/>
          <p:cNvGraphicFramePr>
            <a:graphicFrameLocks noGrp="1"/>
          </p:cNvGraphicFramePr>
          <p:nvPr/>
        </p:nvGraphicFramePr>
        <p:xfrm>
          <a:off x="612648" y="2011680"/>
          <a:ext cx="7406640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Book Antiqua"/>
                        </a:rPr>
                        <a:t>ID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Book Antiqua"/>
                        </a:rPr>
                        <a:t>Customer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Book Antiqua"/>
                        </a:rPr>
                        <a:t>Restaurant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Book Antiqua"/>
                        </a:rPr>
                        <a:t>Partner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Book Antiqua"/>
                        </a:rPr>
                        <a:t>Amount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Book Antiqua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Rahul Sharma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Spice Garden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Suresh Kumar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600.00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Delivered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Sneha Patil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Pizza Hub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Vikas More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428.00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Out for Delivery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Amit Joshi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Biryani House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Suresh Kumar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610.00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Preparing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sult caption 2"/>
          <p:cNvSpPr txBox="1"/>
          <p:nvPr/>
        </p:nvSpPr>
        <p:spPr>
          <a:xfrm>
            <a:off x="8293608" y="16002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D37"/>
                </a:solidFill>
                <a:latin typeface="Book Antiqua"/>
              </a:rPr>
              <a:t>Revenue per restaurant</a:t>
            </a:r>
          </a:p>
        </p:txBody>
      </p:sp>
      <p:graphicFrame>
        <p:nvGraphicFramePr>
          <p:cNvPr id="6" name="Revenue result table"/>
          <p:cNvGraphicFramePr>
            <a:graphicFrameLocks noGrp="1"/>
          </p:cNvGraphicFramePr>
          <p:nvPr/>
        </p:nvGraphicFramePr>
        <p:xfrm>
          <a:off x="8293608" y="2011680"/>
          <a:ext cx="3291840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Book Antiqua"/>
                        </a:rPr>
                        <a:t>Restaurant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Book Antiqua"/>
                        </a:rPr>
                        <a:t>Revenue</a:t>
                      </a:r>
                    </a:p>
                  </a:txBody>
                  <a:tcPr marL="73152" marR="73152" marT="36576" marB="36576" anchor="ctr">
                    <a:solidFill>
                      <a:srgbClr val="232D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Spice Garden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600.00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Pizza Hub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428.00</a:t>
                      </a:r>
                    </a:p>
                  </a:txBody>
                  <a:tcPr marL="73152" marR="73152" marT="36576" marB="36576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Biryani House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232D37"/>
                          </a:solidFill>
                          <a:latin typeface="Book Antiqua"/>
                        </a:rPr>
                        <a:t>610.00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tat 1 bg"/>
          <p:cNvSpPr/>
          <p:nvPr/>
        </p:nvSpPr>
        <p:spPr>
          <a:xfrm>
            <a:off x="612648" y="4343400"/>
            <a:ext cx="3474720" cy="17373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at 1 text"/>
          <p:cNvSpPr txBox="1"/>
          <p:nvPr/>
        </p:nvSpPr>
        <p:spPr>
          <a:xfrm>
            <a:off x="841248" y="448056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C42C38"/>
                </a:solidFill>
                <a:latin typeface="Book Antiqua"/>
              </a:rPr>
              <a:t>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32D37"/>
                </a:solidFill>
                <a:latin typeface="Book Antiqua"/>
              </a:rPr>
              <a:t>orders placed</a:t>
            </a:r>
          </a:p>
        </p:txBody>
      </p:sp>
      <p:sp>
        <p:nvSpPr>
          <p:cNvPr id="9" name="Stat 2 bg"/>
          <p:cNvSpPr/>
          <p:nvPr/>
        </p:nvSpPr>
        <p:spPr>
          <a:xfrm>
            <a:off x="4361688" y="4343400"/>
            <a:ext cx="3474720" cy="17373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tat 2 text"/>
          <p:cNvSpPr txBox="1"/>
          <p:nvPr/>
        </p:nvSpPr>
        <p:spPr>
          <a:xfrm>
            <a:off x="4590288" y="448056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C42C38"/>
                </a:solidFill>
                <a:latin typeface="Book Antiqua"/>
              </a:rPr>
              <a:t>1,638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32D37"/>
                </a:solidFill>
                <a:latin typeface="Book Antiqua"/>
              </a:rPr>
              <a:t>total revenue (INR)</a:t>
            </a:r>
          </a:p>
        </p:txBody>
      </p:sp>
      <p:sp>
        <p:nvSpPr>
          <p:cNvPr id="11" name="Stat 3 bg"/>
          <p:cNvSpPr/>
          <p:nvPr/>
        </p:nvSpPr>
        <p:spPr>
          <a:xfrm>
            <a:off x="8110727" y="4343400"/>
            <a:ext cx="3474720" cy="17373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at 3 text"/>
          <p:cNvSpPr txBox="1"/>
          <p:nvPr/>
        </p:nvSpPr>
        <p:spPr>
          <a:xfrm>
            <a:off x="8339327" y="448056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C42C38"/>
                </a:solidFill>
                <a:latin typeface="Book Antiqua"/>
              </a:rPr>
              <a:t>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32D37"/>
                </a:solidFill>
                <a:latin typeface="Book Antiqua"/>
              </a:rPr>
              <a:t>delivery partners used</a:t>
            </a:r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32D37"/>
                </a:solidFill>
                <a:latin typeface="Book Antiqua"/>
              </a:rPr>
              <a:t>Conclusion</a:t>
            </a:r>
          </a:p>
        </p:txBody>
      </p:sp>
      <p:sp>
        <p:nvSpPr>
          <p:cNvPr id="3" name="Conclusion card bg"/>
          <p:cNvSpPr/>
          <p:nvPr/>
        </p:nvSpPr>
        <p:spPr>
          <a:xfrm>
            <a:off x="612648" y="1600200"/>
            <a:ext cx="5852160" cy="42976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clusion card text"/>
          <p:cNvSpPr txBox="1"/>
          <p:nvPr/>
        </p:nvSpPr>
        <p:spPr>
          <a:xfrm>
            <a:off x="841248" y="1783080"/>
            <a:ext cx="53949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42C38"/>
                </a:solidFill>
                <a:latin typeface="Book Antiqua"/>
              </a:rPr>
              <a:t>What we achieved</a:t>
            </a:r>
          </a:p>
          <a:p>
            <a:pPr marL="228600" indent="-22860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Designed a complete Food Delivery System, from ER diagram to a working MySQL database</a:t>
            </a:r>
          </a:p>
          <a:p>
            <a:pPr marL="228600" indent="-22860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Keys and constraints keep customer, order, payment and delivery data consistent</a:t>
            </a:r>
          </a:p>
          <a:p>
            <a:pPr marL="228600" indent="-22860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A Flask backend and web frontend support ordering, status tracking and reports</a:t>
            </a:r>
          </a:p>
          <a:p>
            <a:pPr marL="228600" indent="-22860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Applied core DBMS concepts: ER modelling, normalization, joins, aggregation and transactions</a:t>
            </a:r>
          </a:p>
        </p:txBody>
      </p:sp>
      <p:sp>
        <p:nvSpPr>
          <p:cNvPr id="5" name="Future scope card bg"/>
          <p:cNvSpPr/>
          <p:nvPr/>
        </p:nvSpPr>
        <p:spPr>
          <a:xfrm>
            <a:off x="6739128" y="1600200"/>
            <a:ext cx="4846320" cy="429768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uture scope card text"/>
          <p:cNvSpPr txBox="1"/>
          <p:nvPr/>
        </p:nvSpPr>
        <p:spPr>
          <a:xfrm>
            <a:off x="6967728" y="178308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C42C38"/>
                </a:solidFill>
                <a:latin typeface="Book Antiqua"/>
              </a:rPr>
              <a:t>Future Scope</a:t>
            </a:r>
          </a:p>
          <a:p>
            <a:pPr marL="228600" indent="-22860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Live GPS tracking of delivery partners</a:t>
            </a:r>
          </a:p>
          <a:p>
            <a:pPr marL="228600" indent="-22860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Online payment gateway (UPI / cards)</a:t>
            </a:r>
          </a:p>
          <a:p>
            <a:pPr marL="228600" indent="-22860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Login with customer, restaurant and admin roles</a:t>
            </a:r>
          </a:p>
          <a:p>
            <a:pPr marL="228600" indent="-22860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Ratings, reviews and food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053351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59A8-4301-4C8E-80D1-086242B7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sz="3200" b="1">
                <a:solidFill>
                  <a:srgbClr val="232D37"/>
                </a:solidFill>
                <a:latin typeface="Book Antiqua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5AD439-A3E7-7E4A-128B-AA8CF1C27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900"/>
              </a:spcAft>
              <a:buNone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[1]  E. F. Codd, "A Relational Model of Data for Large Shared Data Banks," Communications of the ACM, vol. 13, no. 6, pp. 377-387, 1970.</a:t>
            </a:r>
          </a:p>
          <a:p>
            <a:pPr marL="0" indent="0">
              <a:spcAft>
                <a:spcPts val="900"/>
              </a:spcAft>
              <a:buNone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[2]  P. P. Chen, "The Entity-Relationship Model: Toward a Unified View of Data," ACM Transactions on Database Systems, vol. 1, no. 1, pp. 9-36, 1976.</a:t>
            </a:r>
          </a:p>
          <a:p>
            <a:pPr marL="0" indent="0">
              <a:spcAft>
                <a:spcPts val="900"/>
              </a:spcAft>
              <a:buNone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[3]  R. Elmasri and S. B. Navathe, Fundamentals of Database Systems, Pearson.</a:t>
            </a:r>
          </a:p>
          <a:p>
            <a:pPr marL="0" indent="0">
              <a:spcAft>
                <a:spcPts val="900"/>
              </a:spcAft>
              <a:buNone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[4]  A. Silberschatz, H. F. Korth and S. Sudarshan, Database System Concepts, McGraw-Hill.</a:t>
            </a:r>
          </a:p>
          <a:p>
            <a:pPr marL="0" indent="0">
              <a:spcAft>
                <a:spcPts val="900"/>
              </a:spcAft>
              <a:buNone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[5]  Oracle Corporation, MySQL 8.0 Reference Manual, https://dev.mysql.com/doc/</a:t>
            </a:r>
          </a:p>
          <a:p>
            <a:pPr marL="0" indent="0">
              <a:spcAft>
                <a:spcPts val="900"/>
              </a:spcAft>
              <a:buNone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[6]  Pallets Projects, Flask Documentation, https://flask.palletsprojects.com/</a:t>
            </a:r>
          </a:p>
          <a:p>
            <a:pPr marL="0" indent="0">
              <a:spcAft>
                <a:spcPts val="900"/>
              </a:spcAft>
              <a:buNone/>
            </a:pPr>
            <a:r>
              <a:rPr sz="1800" b="0" i="0">
                <a:solidFill>
                  <a:srgbClr val="232D37"/>
                </a:solidFill>
                <a:latin typeface="Book Antiqua"/>
              </a:rPr>
              <a:t>[7]  MDN Web Docs: HTML, CSS and JavaScript, https://developer.mozilla.org/</a:t>
            </a:r>
          </a:p>
        </p:txBody>
      </p:sp>
    </p:spTree>
    <p:extLst>
      <p:ext uri="{BB962C8B-B14F-4D97-AF65-F5344CB8AC3E}">
        <p14:creationId xmlns:p14="http://schemas.microsoft.com/office/powerpoint/2010/main" val="94039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1687</Words>
  <Application>Microsoft Office PowerPoint</Application>
  <PresentationFormat>Widescreen</PresentationFormat>
  <Paragraphs>249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Book Antiqua</vt:lpstr>
      <vt:lpstr>Bookman Old Style</vt:lpstr>
      <vt:lpstr>Calibri</vt:lpstr>
      <vt:lpstr>Courier New</vt:lpstr>
      <vt:lpstr>Times New Roman</vt:lpstr>
      <vt:lpstr>Office Theme</vt:lpstr>
      <vt:lpstr>PowerPoint Presentation</vt:lpstr>
      <vt:lpstr>Index</vt:lpstr>
      <vt:lpstr>Introduction / Background</vt:lpstr>
      <vt:lpstr>Problem Definition &amp; Objectives</vt:lpstr>
      <vt:lpstr>Literature Survey</vt:lpstr>
      <vt:lpstr>Feasibility Study</vt:lpstr>
      <vt:lpstr>System Design &amp; Architecture</vt:lpstr>
      <vt:lpstr>Database Design &amp; ER Diagram</vt:lpstr>
      <vt:lpstr>Database Design: Relational Schema</vt:lpstr>
      <vt:lpstr>SQL Implementation &amp; Results (1/3)</vt:lpstr>
      <vt:lpstr>SQL Implementation &amp; Results (2/3)</vt:lpstr>
      <vt:lpstr>SQL Implementation &amp; Results (3/3)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Win-10</dc:creator>
  <cp:lastModifiedBy>Varad Gavate</cp:lastModifiedBy>
  <cp:revision>45</cp:revision>
  <dcterms:created xsi:type="dcterms:W3CDTF">2023-11-19T03:41:15Z</dcterms:created>
  <dcterms:modified xsi:type="dcterms:W3CDTF">2026-10-14T10:17:09Z</dcterms:modified>
</cp:coreProperties>
</file>