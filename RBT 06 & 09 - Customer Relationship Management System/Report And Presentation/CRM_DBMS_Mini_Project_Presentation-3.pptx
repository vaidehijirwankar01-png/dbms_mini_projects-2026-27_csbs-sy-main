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1" r:id="rId2"/>
    <p:sldId id="273" r:id="rId3"/>
    <p:sldId id="274" r:id="rId4"/>
    <p:sldId id="278" r:id="rId5"/>
    <p:sldId id="279" r:id="rId6"/>
    <p:sldId id="283" r:id="rId7"/>
    <p:sldId id="286" r:id="rId8"/>
    <p:sldId id="282" r:id="rId9"/>
    <p:sldId id="287" r:id="rId10"/>
    <p:sldId id="28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E09D7-0ED3-4FB4-968D-50574EBBA179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63A1E-539A-4081-80D9-4186E0CB4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052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253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782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24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010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748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572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772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962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510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02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99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871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JSPM s Rajarshi Shahu College of Engineering, Tathawade - 2023 Admission,  Fees, Courses, Ranking, Placement">
            <a:extLst>
              <a:ext uri="{FF2B5EF4-FFF2-40B4-BE49-F238E27FC236}">
                <a16:creationId xmlns:a16="http://schemas.microsoft.com/office/drawing/2014/main" id="{2AC37EFD-D716-4491-B060-F82231047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38665" cy="102473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609B56-7E2F-4878-BFF9-1726B9C0D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544" y="41200"/>
            <a:ext cx="1003735" cy="9376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389D3B-D090-41D6-BB8D-F8D1A3EC2634}"/>
              </a:ext>
            </a:extLst>
          </p:cNvPr>
          <p:cNvSpPr txBox="1"/>
          <p:nvPr/>
        </p:nvSpPr>
        <p:spPr>
          <a:xfrm>
            <a:off x="1038666" y="-36784"/>
            <a:ext cx="98098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13232">
              <a:spcBef>
                <a:spcPct val="50000"/>
              </a:spcBef>
              <a:defRPr/>
            </a:pP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JSPM’s </a:t>
            </a:r>
            <a:b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Rajarshi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Shahu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 College of Engineering, </a:t>
            </a: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Tathawade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, Pune</a:t>
            </a:r>
            <a:b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sz="12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(An Autonomous Institute affiliated to Savitribai Phule Pune University)</a:t>
            </a:r>
            <a:br>
              <a:rPr lang="en-US" sz="12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Department of Computer Science and Business Systems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2AA1BD-5C37-4898-838A-C1F25A58D660}"/>
              </a:ext>
            </a:extLst>
          </p:cNvPr>
          <p:cNvSpPr txBox="1"/>
          <p:nvPr/>
        </p:nvSpPr>
        <p:spPr>
          <a:xfrm>
            <a:off x="0" y="879554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ptos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Academic Year: 2026-27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C74F7D-56E3-4E55-95F0-C0D8C8C11BE8}"/>
              </a:ext>
            </a:extLst>
          </p:cNvPr>
          <p:cNvSpPr txBox="1"/>
          <p:nvPr/>
        </p:nvSpPr>
        <p:spPr>
          <a:xfrm>
            <a:off x="-96688" y="1631304"/>
            <a:ext cx="121920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82F4E"/>
                </a:solidFill>
                <a:latin typeface="Aptos Display"/>
              </a:defRPr>
            </a:pPr>
            <a:r>
              <a:t>Project Title:</a:t>
            </a:r>
            <a:br/>
            <a:r>
              <a:t>Customer Relationship Management (CRM) System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EC1DBB-04F2-DA83-C157-2259D85128DF}"/>
              </a:ext>
            </a:extLst>
          </p:cNvPr>
          <p:cNvSpPr txBox="1"/>
          <p:nvPr/>
        </p:nvSpPr>
        <p:spPr>
          <a:xfrm>
            <a:off x="1775520" y="3093743"/>
            <a:ext cx="705678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>
                <a:solidFill>
                  <a:srgbClr val="28303A"/>
                </a:solidFill>
                <a:latin typeface="Aptos"/>
              </a:defRPr>
            </a:pPr>
            <a:r>
              <a:rPr lang="en-US" dirty="0"/>
              <a:t>Student Name : 1.Harish Dandekar (RBT25CB006)</a:t>
            </a:r>
          </a:p>
          <a:p>
            <a:pPr>
              <a:defRPr sz="1400">
                <a:solidFill>
                  <a:srgbClr val="28303A"/>
                </a:solidFill>
                <a:latin typeface="Aptos"/>
              </a:defRPr>
            </a:pPr>
            <a:r>
              <a:rPr lang="en-US" dirty="0"/>
              <a:t>	         2.Sanskar Gaikwad 119RBT25CB009)</a:t>
            </a:r>
          </a:p>
          <a:p>
            <a:pPr>
              <a:defRPr sz="1400">
                <a:solidFill>
                  <a:srgbClr val="28303A"/>
                </a:solidFill>
                <a:latin typeface="Aptos"/>
              </a:defRPr>
            </a:pPr>
            <a:r>
              <a:rPr lang="en-US" dirty="0"/>
              <a:t>Date: 14 October 2026</a:t>
            </a:r>
          </a:p>
          <a:p>
            <a:pPr>
              <a:defRPr sz="1400">
                <a:solidFill>
                  <a:srgbClr val="28303A"/>
                </a:solidFill>
                <a:latin typeface="Aptos"/>
              </a:defRPr>
            </a:pPr>
            <a:r>
              <a:rPr lang="en-US" dirty="0"/>
              <a:t>Course Name: Database Management System</a:t>
            </a:r>
          </a:p>
          <a:p>
            <a:pPr>
              <a:defRPr sz="1400">
                <a:solidFill>
                  <a:srgbClr val="28303A"/>
                </a:solidFill>
                <a:latin typeface="Aptos"/>
              </a:defRPr>
            </a:pPr>
            <a:r>
              <a:rPr lang="en-US" dirty="0"/>
              <a:t>Course Coordinator: Prof. Rutuja S. </a:t>
            </a:r>
            <a:r>
              <a:rPr lang="en-US" dirty="0" err="1"/>
              <a:t>Bachhav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33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2341-A07E-40AE-B9DD-ADCB962BA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800" b="1">
                <a:solidFill>
                  <a:srgbClr val="182F4E"/>
                </a:solidFill>
                <a:latin typeface="Aptos Display"/>
              </a:defRPr>
            </a:pPr>
            <a: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35491-BB56-4043-A87B-5AFAEC227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325880"/>
            <a:ext cx="10698480" cy="5074920"/>
          </a:xfrm>
        </p:spPr>
        <p:txBody>
          <a:bodyPr wrap="square" lIns="109728" tIns="73152" rIns="109728">
            <a:norm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01  Introduction / Background</a:t>
            </a:r>
          </a:p>
          <a:p>
            <a:pPr>
              <a:spcAft>
                <a:spcPts val="11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02  Problem Definition &amp; Objectives</a:t>
            </a:r>
          </a:p>
          <a:p>
            <a:pPr>
              <a:spcAft>
                <a:spcPts val="11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03  Literature Survey</a:t>
            </a:r>
          </a:p>
          <a:p>
            <a:pPr>
              <a:spcAft>
                <a:spcPts val="11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04  Feasibility Study</a:t>
            </a:r>
          </a:p>
          <a:p>
            <a:pPr>
              <a:spcAft>
                <a:spcPts val="11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05  System Design &amp; Architecture</a:t>
            </a:r>
          </a:p>
          <a:p>
            <a:pPr>
              <a:spcAft>
                <a:spcPts val="11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06  Database Design &amp; ER Diagram</a:t>
            </a:r>
          </a:p>
          <a:p>
            <a:pPr>
              <a:spcAft>
                <a:spcPts val="11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07  SQL Implementation &amp; Results</a:t>
            </a:r>
          </a:p>
          <a:p>
            <a:pPr>
              <a:spcAft>
                <a:spcPts val="11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08  Conclusion</a:t>
            </a:r>
          </a:p>
          <a:p>
            <a:pPr>
              <a:spcAft>
                <a:spcPts val="11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09  References</a:t>
            </a:r>
          </a:p>
        </p:txBody>
      </p:sp>
    </p:spTree>
    <p:extLst>
      <p:ext uri="{BB962C8B-B14F-4D97-AF65-F5344CB8AC3E}">
        <p14:creationId xmlns:p14="http://schemas.microsoft.com/office/powerpoint/2010/main" val="95320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4D90-6573-47F2-857B-6146DAAC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800" b="1">
                <a:solidFill>
                  <a:srgbClr val="182F4E"/>
                </a:solidFill>
                <a:latin typeface="Aptos Display"/>
              </a:defRPr>
            </a:pPr>
            <a:r>
              <a:t>Introduction /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F39FD-B974-4648-976D-135720301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325880"/>
            <a:ext cx="10698480" cy="5074920"/>
          </a:xfrm>
        </p:spPr>
        <p:txBody>
          <a:bodyPr wrap="square" lIns="109728" tIns="73152" rIns="109728">
            <a:norm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• Customer Relationship Management (CRM) is a system for organizing customer data and tracking sales-related activities.</a:t>
            </a:r>
          </a:p>
          <a:p>
            <a:pPr>
              <a:spcAft>
                <a:spcPts val="11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• This project provides a web-based interface to manage Customers, Employees, Leads, Products, Deals and Interactions in one place.</a:t>
            </a:r>
          </a:p>
          <a:p>
            <a:pPr>
              <a:spcAft>
                <a:spcPts val="1100"/>
              </a:spcAft>
              <a:defRPr sz="1800" b="0">
                <a:solidFill>
                  <a:srgbClr val="28303A"/>
                </a:solidFill>
                <a:latin typeface="Aptos"/>
              </a:defRPr>
            </a:pPr>
            <a:r>
              <a:t>• Domain context: CRM supports better customer follow-up, visibility of sales opportunities and consistent record keeping.</a:t>
            </a:r>
          </a:p>
          <a:p>
            <a:pPr>
              <a:spcAft>
                <a:spcPts val="1100"/>
              </a:spcAft>
              <a:defRPr sz="1800" b="0">
                <a:solidFill>
                  <a:srgbClr val="28303A"/>
                </a:solidFill>
                <a:latin typeface="Aptos"/>
              </a:defRPr>
            </a:pPr>
            <a:r>
              <a:t>• Technology stack: HTML, CSS and JavaScript for the frontend; Node.js and Express for the backend; MySQL for persistent storage.</a:t>
            </a:r>
          </a:p>
        </p:txBody>
      </p:sp>
    </p:spTree>
    <p:extLst>
      <p:ext uri="{BB962C8B-B14F-4D97-AF65-F5344CB8AC3E}">
        <p14:creationId xmlns:p14="http://schemas.microsoft.com/office/powerpoint/2010/main" val="1983370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E2CD-E867-43E3-B74F-DB925840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82F4E"/>
                </a:solidFill>
                <a:latin typeface="Aptos Display"/>
              </a:defRPr>
            </a:pPr>
            <a:r>
              <a:t>Problem Definition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883C8-F666-4B87-8F8B-246C58248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325880"/>
            <a:ext cx="10698480" cy="5074920"/>
          </a:xfrm>
        </p:spPr>
        <p:txBody>
          <a:bodyPr wrap="square" lIns="109728" tIns="73152" rIns="109728">
            <a:norm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Problem definition</a:t>
            </a:r>
            <a:endParaRPr lang="en-US" sz="2000" dirty="0">
              <a:latin typeface="Book Antiqua" panose="02040602050305030304" pitchFamily="18" charset="0"/>
            </a:endParaRP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Customer and sales information can become scattered across files or separate records, making updates and follow-ups difficult.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The project needs a structured database and a simple interface to create, view, update and delete records while preserving relationships.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Objectives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Centralize six CRM entities in a relational database.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Apply primary keys, foreign keys and constraints to maintain data integrity.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Expose database operations through backend API endpoints.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Provide a straightforward interface for managing CRM records and demonstrating DBMS concepts.</a:t>
            </a:r>
          </a:p>
        </p:txBody>
      </p:sp>
    </p:spTree>
    <p:extLst>
      <p:ext uri="{BB962C8B-B14F-4D97-AF65-F5344CB8AC3E}">
        <p14:creationId xmlns:p14="http://schemas.microsoft.com/office/powerpoint/2010/main" val="18175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17A29-E4E0-430B-B67A-F1E02C080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82F4E"/>
                </a:solidFill>
                <a:latin typeface="Aptos Display"/>
              </a:defRPr>
            </a:pPr>
            <a: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0D20C-DF7A-49E4-8B89-151415458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325880"/>
            <a:ext cx="10698480" cy="5074920"/>
          </a:xfrm>
        </p:spPr>
        <p:txBody>
          <a:bodyPr wrap="square" lIns="109728" tIns="73152" rIns="109728">
            <a:norm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Relational database systems organize information into tables and connect related records through keys.</a:t>
            </a:r>
            <a:endParaRPr lang="en-US" sz="2000" dirty="0">
              <a:latin typeface="Book Antiqua" panose="02040602050305030304" pitchFamily="18" charset="0"/>
            </a:endParaRP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Primary keys uniquely identify rows; foreign keys enforce valid references between related tables.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CRUD operations (Create, Read, Update, Delete) are the basic operations expected in a record-management application.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REST-style APIs separate the user interface from database access and allow the frontend to request operations from the backend.</a:t>
            </a:r>
          </a:p>
          <a:p>
            <a:pPr>
              <a:spcAft>
                <a:spcPts val="1100"/>
              </a:spcAft>
              <a:defRPr sz="1700" b="0">
                <a:solidFill>
                  <a:srgbClr val="28303A"/>
                </a:solidFill>
                <a:latin typeface="Aptos"/>
              </a:defRPr>
            </a:pPr>
            <a:r>
              <a:t>• Project application: MySQL stores the CRM data, while Node.js/Express handles requests from the browser.</a:t>
            </a:r>
          </a:p>
        </p:txBody>
      </p:sp>
    </p:spTree>
    <p:extLst>
      <p:ext uri="{BB962C8B-B14F-4D97-AF65-F5344CB8AC3E}">
        <p14:creationId xmlns:p14="http://schemas.microsoft.com/office/powerpoint/2010/main" val="193036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77F7-0088-48A7-B16F-B6CDD750F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82F4E"/>
                </a:solidFill>
                <a:latin typeface="Aptos Display"/>
              </a:defRPr>
            </a:pPr>
            <a:r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0DD44-DB9B-458B-9D25-3AF642BFD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325880"/>
            <a:ext cx="10698480" cy="5074920"/>
          </a:xfrm>
        </p:spPr>
        <p:txBody>
          <a:bodyPr wrap="square" lIns="109728" tIns="73152" rIns="109728"/>
          <a:lstStyle/>
          <a:p>
            <a:pPr>
              <a:spcAft>
                <a:spcPts val="11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Technical feasibility</a:t>
            </a:r>
          </a:p>
          <a:p>
            <a:pPr>
              <a:spcAft>
                <a:spcPts val="1100"/>
              </a:spcAft>
              <a:defRPr sz="1600" b="0">
                <a:solidFill>
                  <a:srgbClr val="28303A"/>
                </a:solidFill>
                <a:latin typeface="Aptos"/>
              </a:defRPr>
            </a:pPr>
            <a:r>
              <a:t>• Uses commonly available tools: HTML/CSS/JavaScript, Node.js, Express, mysql2 and MySQL.</a:t>
            </a:r>
          </a:p>
          <a:p>
            <a:pPr>
              <a:spcAft>
                <a:spcPts val="11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Runs locally on the development computer at http://localhost:3000.</a:t>
            </a:r>
          </a:p>
          <a:p>
            <a:pPr>
              <a:spcAft>
                <a:spcPts val="11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Financial / business feasibility</a:t>
            </a:r>
          </a:p>
          <a:p>
            <a:pPr>
              <a:spcAft>
                <a:spcPts val="11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The core software stack is available at no additional licensing cost for this academic prototype.</a:t>
            </a:r>
          </a:p>
          <a:p>
            <a:pPr>
              <a:spcAft>
                <a:spcPts val="11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A centralized CRM can reduce duplicate data entry and improve visibility of customer and sales records.</a:t>
            </a:r>
          </a:p>
          <a:p>
            <a:pPr>
              <a:spcAft>
                <a:spcPts val="11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Operational feasibility</a:t>
            </a:r>
          </a:p>
          <a:p>
            <a:pPr>
              <a:spcAft>
                <a:spcPts val="11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A browser-based interface is familiar to users and supports routine record management.</a:t>
            </a:r>
          </a:p>
          <a:p>
            <a:pPr>
              <a:spcAft>
                <a:spcPts val="11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Referential integrity prevents deleting a customer when dependent deal records still reference that customer.</a:t>
            </a:r>
          </a:p>
        </p:txBody>
      </p:sp>
    </p:spTree>
    <p:extLst>
      <p:ext uri="{BB962C8B-B14F-4D97-AF65-F5344CB8AC3E}">
        <p14:creationId xmlns:p14="http://schemas.microsoft.com/office/powerpoint/2010/main" val="1151987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88AD-B1BC-4643-B1DF-6F3D0D7D1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800" b="1">
                <a:solidFill>
                  <a:srgbClr val="182F4E"/>
                </a:solidFill>
                <a:latin typeface="Aptos Display"/>
              </a:defRPr>
            </a:pPr>
            <a:r>
              <a:t>System Design &amp;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2286000" cy="1325880"/>
          </a:xfrm>
          <a:prstGeom prst="roundRect">
            <a:avLst/>
          </a:prstGeom>
          <a:solidFill>
            <a:srgbClr val="EBF3F9"/>
          </a:solidFill>
          <a:ln w="19050">
            <a:solidFill>
              <a:srgbClr val="2B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tlCol="0" anchor="ctr"/>
          <a:lstStyle/>
          <a:p>
            <a:pPr algn="ctr">
              <a:spcAft>
                <a:spcPts val="400"/>
              </a:spcAft>
              <a:defRPr sz="1800" b="1">
                <a:solidFill>
                  <a:srgbClr val="182F4E"/>
                </a:solidFill>
                <a:latin typeface="Aptos"/>
              </a:defRPr>
            </a:pPr>
            <a:r>
              <a:t>Frontend</a:t>
            </a:r>
          </a:p>
          <a:p>
            <a:pPr algn="ctr">
              <a:spcAft>
                <a:spcPts val="100"/>
              </a:spcAft>
              <a:defRPr sz="1300">
                <a:solidFill>
                  <a:srgbClr val="28303A"/>
                </a:solidFill>
                <a:latin typeface="Aptos"/>
              </a:defRPr>
            </a:pPr>
            <a:r>
              <a:t>HTML • CSS</a:t>
            </a:r>
          </a:p>
          <a:p>
            <a:pPr algn="ctr">
              <a:spcAft>
                <a:spcPts val="100"/>
              </a:spcAft>
              <a:defRPr sz="1300">
                <a:solidFill>
                  <a:srgbClr val="28303A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7639" y="1920240"/>
            <a:ext cx="2286000" cy="1325880"/>
          </a:xfrm>
          <a:prstGeom prst="roundRect">
            <a:avLst/>
          </a:prstGeom>
          <a:solidFill>
            <a:srgbClr val="E7F5F1"/>
          </a:solidFill>
          <a:ln w="19050">
            <a:solidFill>
              <a:srgbClr val="23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tlCol="0" anchor="ctr"/>
          <a:lstStyle/>
          <a:p>
            <a:pPr algn="ctr">
              <a:spcAft>
                <a:spcPts val="400"/>
              </a:spcAft>
              <a:defRPr sz="1800" b="1">
                <a:solidFill>
                  <a:srgbClr val="182F4E"/>
                </a:solidFill>
                <a:latin typeface="Aptos"/>
              </a:defRPr>
            </a:pPr>
            <a:r>
              <a:t>Backend API</a:t>
            </a:r>
          </a:p>
          <a:p>
            <a:pPr algn="ctr">
              <a:spcAft>
                <a:spcPts val="100"/>
              </a:spcAft>
              <a:defRPr sz="1300">
                <a:solidFill>
                  <a:srgbClr val="28303A"/>
                </a:solidFill>
                <a:latin typeface="Aptos"/>
              </a:defRPr>
            </a:pPr>
            <a:r>
              <a:t>Node.js</a:t>
            </a:r>
          </a:p>
          <a:p>
            <a:pPr algn="ctr">
              <a:spcAft>
                <a:spcPts val="100"/>
              </a:spcAft>
              <a:defRPr sz="1300">
                <a:solidFill>
                  <a:srgbClr val="28303A"/>
                </a:solidFill>
                <a:latin typeface="Aptos"/>
              </a:defRPr>
            </a:pPr>
            <a:r>
              <a:t>Express routes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1920240"/>
            <a:ext cx="2286000" cy="1325880"/>
          </a:xfrm>
          <a:prstGeom prst="roundRect">
            <a:avLst/>
          </a:prstGeom>
          <a:solidFill>
            <a:srgbClr val="EBF3F9"/>
          </a:solidFill>
          <a:ln w="19050">
            <a:solidFill>
              <a:srgbClr val="2B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tlCol="0" anchor="ctr"/>
          <a:lstStyle/>
          <a:p>
            <a:pPr algn="ctr">
              <a:spcAft>
                <a:spcPts val="400"/>
              </a:spcAft>
              <a:defRPr sz="1800" b="1">
                <a:solidFill>
                  <a:srgbClr val="182F4E"/>
                </a:solidFill>
                <a:latin typeface="Aptos"/>
              </a:defRPr>
            </a:pPr>
            <a:r>
              <a:t>DB Driver</a:t>
            </a:r>
          </a:p>
          <a:p>
            <a:pPr algn="ctr">
              <a:spcAft>
                <a:spcPts val="100"/>
              </a:spcAft>
              <a:defRPr sz="1300">
                <a:solidFill>
                  <a:srgbClr val="28303A"/>
                </a:solidFill>
                <a:latin typeface="Aptos"/>
              </a:defRPr>
            </a:pPr>
            <a:r>
              <a:t>mysql2</a:t>
            </a:r>
          </a:p>
          <a:p>
            <a:pPr algn="ctr">
              <a:spcAft>
                <a:spcPts val="100"/>
              </a:spcAft>
              <a:defRPr sz="1300">
                <a:solidFill>
                  <a:srgbClr val="28303A"/>
                </a:solidFill>
                <a:latin typeface="Aptos"/>
              </a:defRPr>
            </a:pPr>
            <a:r>
              <a:t>Query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160520"/>
            <a:ext cx="2286000" cy="1234440"/>
          </a:xfrm>
          <a:prstGeom prst="roundRect">
            <a:avLst/>
          </a:prstGeom>
          <a:solidFill>
            <a:srgbClr val="FFF6E0"/>
          </a:solidFill>
          <a:ln w="19050">
            <a:solidFill>
              <a:srgbClr val="E8A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182F4E"/>
                </a:solidFill>
                <a:latin typeface="Aptos"/>
              </a:defRPr>
            </a:pPr>
            <a:r>
              <a:t>MySQL Database</a:t>
            </a:r>
          </a:p>
          <a:p>
            <a:pPr algn="ctr">
              <a:spcAft>
                <a:spcPts val="100"/>
              </a:spcAft>
              <a:defRPr sz="1200">
                <a:solidFill>
                  <a:srgbClr val="28303A"/>
                </a:solidFill>
                <a:latin typeface="Aptos"/>
              </a:defRPr>
            </a:pPr>
            <a:r>
              <a:t>CRM tables</a:t>
            </a:r>
          </a:p>
          <a:p>
            <a:pPr algn="ctr">
              <a:spcAft>
                <a:spcPts val="100"/>
              </a:spcAft>
              <a:defRPr sz="1200">
                <a:solidFill>
                  <a:srgbClr val="28303A"/>
                </a:solidFill>
                <a:latin typeface="Aptos"/>
              </a:defRPr>
            </a:pPr>
            <a:r>
              <a:t>Keys &amp; constraints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2578608"/>
            <a:ext cx="960119" cy="0"/>
          </a:xfrm>
          <a:prstGeom prst="line">
            <a:avLst/>
          </a:prstGeom>
          <a:ln w="25400">
            <a:solidFill>
              <a:srgbClr val="2387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263640" y="2578608"/>
            <a:ext cx="960120" cy="0"/>
          </a:xfrm>
          <a:prstGeom prst="line">
            <a:avLst/>
          </a:prstGeom>
          <a:ln w="25400">
            <a:solidFill>
              <a:srgbClr val="2387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366760" y="3246120"/>
            <a:ext cx="1188720" cy="914400"/>
          </a:xfrm>
          <a:prstGeom prst="line">
            <a:avLst/>
          </a:prstGeom>
          <a:ln w="25400">
            <a:solidFill>
              <a:srgbClr val="2387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4069080"/>
            <a:ext cx="7223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82F4E"/>
                </a:solidFill>
                <a:latin typeface="Aptos"/>
              </a:defRPr>
            </a:pPr>
            <a:r>
              <a:t>Request flow</a:t>
            </a:r>
          </a:p>
          <a:p>
            <a:pPr>
              <a:spcAft>
                <a:spcPts val="700"/>
              </a:spcAft>
              <a:defRPr sz="1400" b="0">
                <a:solidFill>
                  <a:srgbClr val="28303A"/>
                </a:solidFill>
                <a:latin typeface="Aptos"/>
              </a:defRPr>
            </a:pPr>
            <a:r>
              <a:t>1. User action in browser → 2. Express API receives request → 3. mysql2 executes SQL → 4. MySQL returns data.</a:t>
            </a:r>
          </a:p>
          <a:p>
            <a:pPr>
              <a:spcAft>
                <a:spcPts val="700"/>
              </a:spcAft>
              <a:defRPr sz="1400" b="0">
                <a:solidFill>
                  <a:srgbClr val="28303A"/>
                </a:solidFill>
                <a:latin typeface="Aptos"/>
              </a:defRPr>
            </a:pPr>
            <a:r>
              <a:t>The API responds with JSON; the frontend updates the displayed records and shows success/error messages.</a:t>
            </a:r>
          </a:p>
        </p:txBody>
      </p:sp>
    </p:spTree>
    <p:extLst>
      <p:ext uri="{BB962C8B-B14F-4D97-AF65-F5344CB8AC3E}">
        <p14:creationId xmlns:p14="http://schemas.microsoft.com/office/powerpoint/2010/main" val="3327316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B29D-9EA5-4042-BC61-D443DE878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4616"/>
            <a:ext cx="10972800" cy="1143000"/>
          </a:xfrm>
        </p:spPr>
        <p:txBody>
          <a:bodyPr>
            <a:normAutofit/>
          </a:bodyPr>
          <a:lstStyle/>
          <a:p>
            <a:pPr>
              <a:defRPr sz="2700" b="1">
                <a:solidFill>
                  <a:srgbClr val="182F4E"/>
                </a:solidFill>
                <a:latin typeface="Aptos Display"/>
              </a:defRPr>
            </a:pPr>
            <a:r>
              <a:rPr dirty="0"/>
              <a:t>Database Design &amp; ER Diagram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" y="6286182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  <a:latin typeface="Aptos"/>
              </a:defRPr>
            </a:pPr>
            <a:r>
              <a:rPr dirty="0"/>
              <a:t>PK = Primary Key  |  FK = Foreign Key  •  Leads, Deals and Interactions reference customer and employee records. Product-to-deal line is illustrative; confirm/add a product FK if implemented.</a:t>
            </a:r>
          </a:p>
        </p:txBody>
      </p:sp>
      <p:pic>
        <p:nvPicPr>
          <p:cNvPr id="15" name="Picture 14" descr="Generated image: CRM System ER Diagram">
            <a:extLst>
              <a:ext uri="{FF2B5EF4-FFF2-40B4-BE49-F238E27FC236}">
                <a16:creationId xmlns:a16="http://schemas.microsoft.com/office/drawing/2014/main" id="{743C803C-FDF1-92C2-D8C5-322DE4347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851" y="85725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08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41C1-0906-95C4-F18B-D1D2E80B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0648"/>
            <a:ext cx="10972800" cy="1143000"/>
          </a:xfrm>
        </p:spPr>
        <p:txBody>
          <a:bodyPr>
            <a:noAutofit/>
          </a:bodyPr>
          <a:lstStyle/>
          <a:p>
            <a:pPr>
              <a:defRPr sz="2800" b="1">
                <a:solidFill>
                  <a:srgbClr val="182F4E"/>
                </a:solidFill>
                <a:latin typeface="Aptos Display"/>
              </a:defRPr>
            </a:pPr>
            <a:r>
              <a:t>SQL Implementation &amp;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D134E-EA61-2360-8B8A-F171E29D3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325880"/>
            <a:ext cx="10698480" cy="5074920"/>
          </a:xfrm>
        </p:spPr>
        <p:txBody>
          <a:bodyPr wrap="square" lIns="109728" tIns="73152" rIns="109728"/>
          <a:lstStyle/>
          <a:p>
            <a:pPr>
              <a:spcAft>
                <a:spcPts val="11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Database implementation</a:t>
            </a:r>
            <a:endParaRPr lang="en-US" dirty="0"/>
          </a:p>
          <a:p>
            <a:pPr>
              <a:spcAft>
                <a:spcPts val="11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MySQL stores the six CRM entities in related tables.</a:t>
            </a:r>
          </a:p>
          <a:p>
            <a:pPr>
              <a:spcAft>
                <a:spcPts val="11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Keys and constraints support unique identification and referential integrity; fields use appropriate types such as INT, VARCHAR, ENUM and DECIMAL where applicable.</a:t>
            </a:r>
          </a:p>
          <a:p>
            <a:pPr>
              <a:spcAft>
                <a:spcPts val="11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Application implementation</a:t>
            </a:r>
          </a:p>
          <a:p>
            <a:pPr>
              <a:spcAft>
                <a:spcPts val="11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HTML/CSS/JavaScript frontend communicates with Node.js/Express API routes.</a:t>
            </a:r>
          </a:p>
          <a:p>
            <a:pPr>
              <a:spcAft>
                <a:spcPts val="11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mysql2 connects the backend to the local MySQL database; API responses are returned as JSON.</a:t>
            </a:r>
          </a:p>
          <a:p>
            <a:pPr>
              <a:spcAft>
                <a:spcPts val="11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Demonstrated results</a:t>
            </a:r>
          </a:p>
          <a:p>
            <a:pPr>
              <a:spcAft>
                <a:spcPts val="11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Record listing and CRUD operations are available through the CRM interface.</a:t>
            </a:r>
          </a:p>
          <a:p>
            <a:pPr>
              <a:spcAft>
                <a:spcPts val="11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Deleting a customer referenced by a deal is rejected by MySQL, demonstrating foreign-key enforcement.</a:t>
            </a:r>
          </a:p>
        </p:txBody>
      </p:sp>
    </p:spTree>
    <p:extLst>
      <p:ext uri="{BB962C8B-B14F-4D97-AF65-F5344CB8AC3E}">
        <p14:creationId xmlns:p14="http://schemas.microsoft.com/office/powerpoint/2010/main" val="238661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D940-E456-4083-912A-0FEBF8D7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82F4E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DA3A2B-6D03-4D04-9D87-415BE72FB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325880"/>
            <a:ext cx="10698480" cy="5074920"/>
          </a:xfrm>
        </p:spPr>
        <p:txBody>
          <a:bodyPr wrap="square" lIns="109728" tIns="73152" rIns="109728"/>
          <a:lstStyle/>
          <a:p>
            <a:pPr>
              <a:spcAft>
                <a:spcPts val="11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• The CRM mini project demonstrates how a relational database can support organized customer and sales management.</a:t>
            </a:r>
            <a:endParaRPr lang="en-US"/>
          </a:p>
          <a:p>
            <a:pPr>
              <a:spcAft>
                <a:spcPts val="11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• The frontend, Express API and MySQL database are connected in a working local application.</a:t>
            </a:r>
          </a:p>
          <a:p>
            <a:pPr>
              <a:spcAft>
                <a:spcPts val="11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• The project applies DBMS concepts including tables, primary keys, foreign keys, constraints and CRUD operations.</a:t>
            </a:r>
          </a:p>
          <a:p>
            <a:pPr>
              <a:spcAft>
                <a:spcPts val="1100"/>
              </a:spcAft>
              <a:defRPr sz="1800" b="0">
                <a:solidFill>
                  <a:srgbClr val="28303A"/>
                </a:solidFill>
                <a:latin typeface="Aptos"/>
              </a:defRPr>
            </a:pPr>
            <a:r>
              <a:t>• Future enhancements: role-based login, search/filtering, sales reports, validation, audit logs and deployment to a shared server.</a:t>
            </a:r>
          </a:p>
        </p:txBody>
      </p:sp>
    </p:spTree>
    <p:extLst>
      <p:ext uri="{BB962C8B-B14F-4D97-AF65-F5344CB8AC3E}">
        <p14:creationId xmlns:p14="http://schemas.microsoft.com/office/powerpoint/2010/main" val="4053351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59A8-4301-4C8E-80D1-086242B7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800" b="1">
                <a:solidFill>
                  <a:srgbClr val="182F4E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5AD439-A3E7-7E4A-128B-AA8CF1C27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325880"/>
            <a:ext cx="10698480" cy="5074920"/>
          </a:xfrm>
        </p:spPr>
        <p:txBody>
          <a:bodyPr wrap="square" lIns="109728" tIns="73152" rIns="109728"/>
          <a:lstStyle/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1. MySQL Documentation — https://dev.mysql.com/doc/</a:t>
            </a:r>
            <a:endParaRPr lang="en-US"/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2. Node.js Documentation — https://nodejs.org/docs/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3. Express.js Documentation — https://expressjs.com/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4. MDN Web Docs — HTML, CSS and JavaScript — https://developer.mozilla.org/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5. Course: Database Management System, JSPM’s Rajarshi Shahu College of Engineering.</a:t>
            </a:r>
          </a:p>
          <a:p>
            <a:pPr>
              <a:spcAft>
                <a:spcPts val="11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6. Project implementation: CRM frontend, Node.js/Express API and MySQL database developed for the DBMS mini project.</a:t>
            </a:r>
          </a:p>
        </p:txBody>
      </p:sp>
    </p:spTree>
    <p:extLst>
      <p:ext uri="{BB962C8B-B14F-4D97-AF65-F5344CB8AC3E}">
        <p14:creationId xmlns:p14="http://schemas.microsoft.com/office/powerpoint/2010/main" val="94039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931</Words>
  <Application>Microsoft Office PowerPoint</Application>
  <PresentationFormat>Widescreen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Book Antiqua</vt:lpstr>
      <vt:lpstr>Bookman Old Style</vt:lpstr>
      <vt:lpstr>Calibri</vt:lpstr>
      <vt:lpstr>Times New Roman</vt:lpstr>
      <vt:lpstr>Office Theme</vt:lpstr>
      <vt:lpstr>PowerPoint Presentation</vt:lpstr>
      <vt:lpstr>Index</vt:lpstr>
      <vt:lpstr>Introduction / Background</vt:lpstr>
      <vt:lpstr>Problem Definition &amp; Objectives</vt:lpstr>
      <vt:lpstr>Literature Survey</vt:lpstr>
      <vt:lpstr>Feasibility Study</vt:lpstr>
      <vt:lpstr>System Design &amp; Architecture</vt:lpstr>
      <vt:lpstr>Database Design &amp; ER Diagram</vt:lpstr>
      <vt:lpstr>SQL Implementation &amp; Results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Win-10</dc:creator>
  <cp:lastModifiedBy>Harish Dandekar</cp:lastModifiedBy>
  <cp:revision>45</cp:revision>
  <dcterms:created xsi:type="dcterms:W3CDTF">2023-11-19T03:41:15Z</dcterms:created>
  <dcterms:modified xsi:type="dcterms:W3CDTF">2026-10-14T10:21:35Z</dcterms:modified>
</cp:coreProperties>
</file>